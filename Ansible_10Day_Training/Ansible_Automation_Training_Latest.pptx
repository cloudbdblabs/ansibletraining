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7"/>
  </p:notesMasterIdLst>
  <p:handoutMasterIdLst>
    <p:handoutMasterId r:id="rId8"/>
  </p:handoutMasterIdLst>
  <p:sldIdLst>
    <p:sldId id="2147483534" r:id="rId15"/>
    <p:sldId id="2147483535" r:id="rId16"/>
    <p:sldId id="2147483536" r:id="rId17"/>
    <p:sldId id="2147483537" r:id="rId18"/>
    <p:sldId id="2147483538" r:id="rId19"/>
    <p:sldId id="2147483539" r:id="rId20"/>
    <p:sldId id="2147483540" r:id="rId21"/>
    <p:sldId id="2147483541" r:id="rId22"/>
    <p:sldId id="2147483542" r:id="rId23"/>
    <p:sldId id="2147483543" r:id="rId24"/>
    <p:sldId id="2147483544" r:id="rId25"/>
    <p:sldId id="2147483545" r:id="rId26"/>
    <p:sldId id="2147483546" r:id="rId27"/>
    <p:sldId id="2147483547" r:id="rId28"/>
    <p:sldId id="2147483548" r:id="rId29"/>
    <p:sldId id="2147483549" r:id="rId30"/>
    <p:sldId id="2147483550" r:id="rId31"/>
    <p:sldId id="2147483551" r:id="rId32"/>
    <p:sldId id="2147483552" r:id="rId33"/>
    <p:sldId id="2147483553" r:id="rId34"/>
    <p:sldId id="2147483554" r:id="rId35"/>
    <p:sldId id="2147483555" r:id="rId36"/>
    <p:sldId id="2147483556" r:id="rId37"/>
    <p:sldId id="2147483557" r:id="rId38"/>
    <p:sldId id="2147483558" r:id="rId39"/>
    <p:sldId id="2147483559" r:id="rId40"/>
    <p:sldId id="2147483560" r:id="rId41"/>
    <p:sldId id="2147483561" r:id="rId42"/>
    <p:sldId id="2147483562" r:id="rId43"/>
    <p:sldId id="2147483563" r:id="rId44"/>
    <p:sldId id="2147483564" r:id="rId45"/>
    <p:sldId id="2147483565" r:id="rId46"/>
    <p:sldId id="2147483566" r:id="rId47"/>
    <p:sldId id="2147483567" r:id="rId48"/>
    <p:sldId id="2147483568" r:id="rId49"/>
    <p:sldId id="2147483569" r:id="rId50"/>
    <p:sldId id="2147483570" r:id="rId51"/>
    <p:sldId id="2147483571" r:id="rId52"/>
    <p:sldId id="2147483572" r:id="rId53"/>
    <p:sldId id="2147483573" r:id="rId54"/>
    <p:sldId id="2147483574" r:id="rId55"/>
    <p:sldId id="2147483575" r:id="rId56"/>
    <p:sldId id="2147483576" r:id="rId57"/>
    <p:sldId id="2147483577" r:id="rId58"/>
    <p:sldId id="2147483578" r:id="rId59"/>
    <p:sldId id="2147483579" r:id="rId60"/>
    <p:sldId id="2147483580" r:id="rId61"/>
    <p:sldId id="2147483581" r:id="rId62"/>
    <p:sldId id="2147483582" r:id="rId63"/>
    <p:sldId id="2147483583" r:id="rId64"/>
    <p:sldId id="2147483584" r:id="rId65"/>
    <p:sldId id="2147483585" r:id="rId66"/>
    <p:sldId id="2147483586" r:id="rId67"/>
    <p:sldId id="2147483587" r:id="rId68"/>
    <p:sldId id="2147483588" r:id="rId69"/>
    <p:sldId id="2147483589" r:id="rId70"/>
    <p:sldId id="2147483590" r:id="rId71"/>
    <p:sldId id="2147483591" r:id="rId72"/>
    <p:sldId id="2147483592" r:id="rId73"/>
    <p:sldId id="2147483593" r:id="rId74"/>
    <p:sldId id="2147483594" r:id="rId75"/>
    <p:sldId id="2147483595" r:id="rId76"/>
    <p:sldId id="2147483596" r:id="rId77"/>
    <p:sldId id="2147483597" r:id="rId78"/>
    <p:sldId id="2147483598" r:id="rId79"/>
    <p:sldId id="2147483599" r:id="rId80"/>
    <p:sldId id="2147483600" r:id="rId81"/>
    <p:sldId id="2147483601" r:id="rId82"/>
    <p:sldId id="2147483602" r:id="rId83"/>
    <p:sldId id="2147483603" r:id="rId84"/>
    <p:sldId id="2147483604" r:id="rId85"/>
    <p:sldId id="2147483605" r:id="rId86"/>
    <p:sldId id="2147483606" r:id="rId87"/>
    <p:sldId id="2147483607" r:id="rId88"/>
    <p:sldId id="2147483608" r:id="rId89"/>
    <p:sldId id="2147483609" r:id="rId90"/>
    <p:sldId id="2147483610" r:id="rId91"/>
    <p:sldId id="2147483611" r:id="rId92"/>
    <p:sldId id="2147483612" r:id="rId93"/>
    <p:sldId id="2147483613" r:id="rId94"/>
    <p:sldId id="2147483614" r:id="rId95"/>
    <p:sldId id="2147483615" r:id="rId96"/>
    <p:sldId id="2147483616" r:id="rId97"/>
    <p:sldId id="2147483617" r:id="rId98"/>
    <p:sldId id="2147483618" r:id="rId99"/>
    <p:sldId id="2147483619" r:id="rId100"/>
    <p:sldId id="2147483620" r:id="rId101"/>
    <p:sldId id="2147483621" r:id="rId102"/>
    <p:sldId id="2147483622" r:id="rId103"/>
    <p:sldId id="2147483623" r:id="rId104"/>
    <p:sldId id="2147483624" r:id="rId105"/>
    <p:sldId id="2147483625" r:id="rId106"/>
    <p:sldId id="2147483626" r:id="rId107"/>
    <p:sldId id="2147483627" r:id="rId108"/>
    <p:sldId id="2147483628" r:id="rId109"/>
    <p:sldId id="2147483629" r:id="rId110"/>
    <p:sldId id="2147483630" r:id="rId111"/>
    <p:sldId id="2147483631" r:id="rId112"/>
    <p:sldId id="2147483632" r:id="rId113"/>
    <p:sldId id="2147483633" r:id="rId114"/>
    <p:sldId id="2147483634" r:id="rId115"/>
    <p:sldId id="2147483635" r:id="rId116"/>
    <p:sldId id="2147483636" r:id="rId117"/>
    <p:sldId id="2147483637" r:id="rId118"/>
    <p:sldId id="2147483638" r:id="rId119"/>
    <p:sldId id="2147483639" r:id="rId120"/>
    <p:sldId id="2147483640" r:id="rId121"/>
    <p:sldId id="2147483641" r:id="rId122"/>
    <p:sldId id="2147483642" r:id="rId123"/>
    <p:sldId id="2147483643" r:id="rId124"/>
    <p:sldId id="2147483644" r:id="rId125"/>
    <p:sldId id="2147483645" r:id="rId126"/>
    <p:sldId id="2147483646" r:id="rId127"/>
    <p:sldId id="2147483647" r:id="rId128"/>
    <p:sldId id="256" r:id="rId129"/>
    <p:sldId id="257" r:id="rId130"/>
    <p:sldId id="258" r:id="rId131"/>
    <p:sldId id="259" r:id="rId132"/>
    <p:sldId id="260" r:id="rId133"/>
    <p:sldId id="261" r:id="rId134"/>
    <p:sldId id="262" r:id="rId135"/>
    <p:sldId id="263" r:id="rId136"/>
    <p:sldId id="264" r:id="rId137"/>
    <p:sldId id="265" r:id="rId138"/>
    <p:sldId id="266" r:id="rId139"/>
    <p:sldId id="267" r:id="rId140"/>
    <p:sldId id="268" r:id="rId141"/>
    <p:sldId id="269" r:id="rId142"/>
    <p:sldId id="270" r:id="rId143"/>
    <p:sldId id="271" r:id="rId144"/>
    <p:sldId id="272" r:id="rId145"/>
    <p:sldId id="273" r:id="rId146"/>
    <p:sldId id="274" r:id="rId147"/>
    <p:sldId id="275" r:id="rId148"/>
    <p:sldId id="276" r:id="rId149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C5E217-6288-2740-A352-914B0E257A24}">
          <p14:sldIdLst>
            <p14:sldId id="2147483532"/>
            <p14:sldId id="2147483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71D142-6A70-A241-83FF-9B52B139C68F}" name="Seth Miller" initials="" userId="S::seth.m.miller@oracle.com::e138e0be-4987-4b55-a8d8-680fb8439a67" providerId="AD"/>
  <p188:author id="{D49CC771-BA19-CCE4-2130-93672A6183ED}" name="Seth Miller" initials="SMM" userId="Seth Miller" providerId="None"/>
  <p188:author id="{868AD486-DA9F-85F6-01F3-D8A905CB24CD}" name="Natarajan Shankar" initials="NS" userId="S::natarajan.shankar@oracle.com::adc3359b-9db1-46dc-80d3-c1755af2bf49" providerId="AD"/>
  <p188:author id="{5F3D31C3-30A0-1162-207F-8E45AC069083}" name="Alex Blyth" initials="AB" userId="S::alex.blyth@oracle.com::58e14eb5-55bc-4d40-9ae9-edb50329ac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D9E"/>
    <a:srgbClr val="455C5C"/>
    <a:srgbClr val="759D6C"/>
    <a:srgbClr val="FDFEFE"/>
    <a:srgbClr val="FEFEFE"/>
    <a:srgbClr val="FFFEFE"/>
    <a:srgbClr val="FFFFFD"/>
    <a:srgbClr val="FFFFFE"/>
    <a:srgbClr val="FFFEFF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61" autoAdjust="0"/>
    <p:restoredTop sz="96301"/>
  </p:normalViewPr>
  <p:slideViewPr>
    <p:cSldViewPr snapToGrid="0" showGuides="1">
      <p:cViewPr varScale="1">
        <p:scale>
          <a:sx n="66" d="100"/>
          <a:sy n="66" d="100"/>
        </p:scale>
        <p:origin x="368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1" Type="http://schemas.openxmlformats.org/officeDocument/2006/relationships/slide" Target="slides/slide79.xml"/><Relationship Id="rId92" Type="http://schemas.openxmlformats.org/officeDocument/2006/relationships/slide" Target="slides/slide80.xml"/><Relationship Id="rId93" Type="http://schemas.openxmlformats.org/officeDocument/2006/relationships/slide" Target="slides/slide81.xml"/><Relationship Id="rId94" Type="http://schemas.openxmlformats.org/officeDocument/2006/relationships/slide" Target="slides/slide82.xml"/><Relationship Id="rId95" Type="http://schemas.openxmlformats.org/officeDocument/2006/relationships/slide" Target="slides/slide83.xml"/><Relationship Id="rId96" Type="http://schemas.openxmlformats.org/officeDocument/2006/relationships/slide" Target="slides/slide84.xml"/><Relationship Id="rId97" Type="http://schemas.openxmlformats.org/officeDocument/2006/relationships/slide" Target="slides/slide85.xml"/><Relationship Id="rId98" Type="http://schemas.openxmlformats.org/officeDocument/2006/relationships/slide" Target="slides/slide86.xml"/><Relationship Id="rId99" Type="http://schemas.openxmlformats.org/officeDocument/2006/relationships/slide" Target="slides/slide87.xml"/><Relationship Id="rId100" Type="http://schemas.openxmlformats.org/officeDocument/2006/relationships/slide" Target="slides/slide88.xml"/><Relationship Id="rId101" Type="http://schemas.openxmlformats.org/officeDocument/2006/relationships/slide" Target="slides/slide89.xml"/><Relationship Id="rId102" Type="http://schemas.openxmlformats.org/officeDocument/2006/relationships/slide" Target="slides/slide90.xml"/><Relationship Id="rId103" Type="http://schemas.openxmlformats.org/officeDocument/2006/relationships/slide" Target="slides/slide91.xml"/><Relationship Id="rId104" Type="http://schemas.openxmlformats.org/officeDocument/2006/relationships/slide" Target="slides/slide92.xml"/><Relationship Id="rId105" Type="http://schemas.openxmlformats.org/officeDocument/2006/relationships/slide" Target="slides/slide93.xml"/><Relationship Id="rId106" Type="http://schemas.openxmlformats.org/officeDocument/2006/relationships/slide" Target="slides/slide94.xml"/><Relationship Id="rId107" Type="http://schemas.openxmlformats.org/officeDocument/2006/relationships/slide" Target="slides/slide95.xml"/><Relationship Id="rId108" Type="http://schemas.openxmlformats.org/officeDocument/2006/relationships/slide" Target="slides/slide96.xml"/><Relationship Id="rId109" Type="http://schemas.openxmlformats.org/officeDocument/2006/relationships/slide" Target="slides/slide97.xml"/><Relationship Id="rId110" Type="http://schemas.openxmlformats.org/officeDocument/2006/relationships/slide" Target="slides/slide98.xml"/><Relationship Id="rId111" Type="http://schemas.openxmlformats.org/officeDocument/2006/relationships/slide" Target="slides/slide99.xml"/><Relationship Id="rId112" Type="http://schemas.openxmlformats.org/officeDocument/2006/relationships/slide" Target="slides/slide100.xml"/><Relationship Id="rId113" Type="http://schemas.openxmlformats.org/officeDocument/2006/relationships/slide" Target="slides/slide101.xml"/><Relationship Id="rId114" Type="http://schemas.openxmlformats.org/officeDocument/2006/relationships/slide" Target="slides/slide102.xml"/><Relationship Id="rId115" Type="http://schemas.openxmlformats.org/officeDocument/2006/relationships/slide" Target="slides/slide103.xml"/><Relationship Id="rId116" Type="http://schemas.openxmlformats.org/officeDocument/2006/relationships/slide" Target="slides/slide104.xml"/><Relationship Id="rId117" Type="http://schemas.openxmlformats.org/officeDocument/2006/relationships/slide" Target="slides/slide105.xml"/><Relationship Id="rId118" Type="http://schemas.openxmlformats.org/officeDocument/2006/relationships/slide" Target="slides/slide106.xml"/><Relationship Id="rId119" Type="http://schemas.openxmlformats.org/officeDocument/2006/relationships/slide" Target="slides/slide107.xml"/><Relationship Id="rId120" Type="http://schemas.openxmlformats.org/officeDocument/2006/relationships/slide" Target="slides/slide108.xml"/><Relationship Id="rId121" Type="http://schemas.openxmlformats.org/officeDocument/2006/relationships/slide" Target="slides/slide109.xml"/><Relationship Id="rId122" Type="http://schemas.openxmlformats.org/officeDocument/2006/relationships/slide" Target="slides/slide110.xml"/><Relationship Id="rId123" Type="http://schemas.openxmlformats.org/officeDocument/2006/relationships/slide" Target="slides/slide111.xml"/><Relationship Id="rId124" Type="http://schemas.openxmlformats.org/officeDocument/2006/relationships/slide" Target="slides/slide112.xml"/><Relationship Id="rId125" Type="http://schemas.openxmlformats.org/officeDocument/2006/relationships/slide" Target="slides/slide113.xml"/><Relationship Id="rId126" Type="http://schemas.openxmlformats.org/officeDocument/2006/relationships/slide" Target="slides/slide114.xml"/><Relationship Id="rId127" Type="http://schemas.openxmlformats.org/officeDocument/2006/relationships/slide" Target="slides/slide115.xml"/><Relationship Id="rId128" Type="http://schemas.openxmlformats.org/officeDocument/2006/relationships/slide" Target="slides/slide116.xml"/><Relationship Id="rId129" Type="http://schemas.openxmlformats.org/officeDocument/2006/relationships/slide" Target="slides/slide117.xml"/><Relationship Id="rId130" Type="http://schemas.openxmlformats.org/officeDocument/2006/relationships/slide" Target="slides/slide118.xml"/><Relationship Id="rId131" Type="http://schemas.openxmlformats.org/officeDocument/2006/relationships/slide" Target="slides/slide119.xml"/><Relationship Id="rId132" Type="http://schemas.openxmlformats.org/officeDocument/2006/relationships/slide" Target="slides/slide120.xml"/><Relationship Id="rId133" Type="http://schemas.openxmlformats.org/officeDocument/2006/relationships/slide" Target="slides/slide121.xml"/><Relationship Id="rId134" Type="http://schemas.openxmlformats.org/officeDocument/2006/relationships/slide" Target="slides/slide122.xml"/><Relationship Id="rId135" Type="http://schemas.openxmlformats.org/officeDocument/2006/relationships/slide" Target="slides/slide123.xml"/><Relationship Id="rId136" Type="http://schemas.openxmlformats.org/officeDocument/2006/relationships/slide" Target="slides/slide124.xml"/><Relationship Id="rId137" Type="http://schemas.openxmlformats.org/officeDocument/2006/relationships/slide" Target="slides/slide125.xml"/><Relationship Id="rId138" Type="http://schemas.openxmlformats.org/officeDocument/2006/relationships/slide" Target="slides/slide126.xml"/><Relationship Id="rId139" Type="http://schemas.openxmlformats.org/officeDocument/2006/relationships/slide" Target="slides/slide127.xml"/><Relationship Id="rId140" Type="http://schemas.openxmlformats.org/officeDocument/2006/relationships/slide" Target="slides/slide128.xml"/><Relationship Id="rId141" Type="http://schemas.openxmlformats.org/officeDocument/2006/relationships/slide" Target="slides/slide129.xml"/><Relationship Id="rId142" Type="http://schemas.openxmlformats.org/officeDocument/2006/relationships/slide" Target="slides/slide130.xml"/><Relationship Id="rId143" Type="http://schemas.openxmlformats.org/officeDocument/2006/relationships/slide" Target="slides/slide131.xml"/><Relationship Id="rId144" Type="http://schemas.openxmlformats.org/officeDocument/2006/relationships/slide" Target="slides/slide132.xml"/><Relationship Id="rId145" Type="http://schemas.openxmlformats.org/officeDocument/2006/relationships/slide" Target="slides/slide133.xml"/><Relationship Id="rId146" Type="http://schemas.openxmlformats.org/officeDocument/2006/relationships/slide" Target="slides/slide134.xml"/><Relationship Id="rId147" Type="http://schemas.openxmlformats.org/officeDocument/2006/relationships/slide" Target="slides/slide135.xml"/><Relationship Id="rId148" Type="http://schemas.openxmlformats.org/officeDocument/2006/relationships/slide" Target="slides/slide136.xml"/><Relationship Id="rId149" Type="http://schemas.openxmlformats.org/officeDocument/2006/relationships/slide" Target="slides/slide1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4/14/2026</a:t>
            </a:fld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emf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emf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1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1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Title goes here (up to two lines) </a:t>
            </a:r>
            <a:br>
              <a:rPr lang="en-US"/>
            </a:br>
            <a:r>
              <a:rPr lang="en-US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Presenter’s Title</a:t>
            </a:r>
          </a:p>
          <a:p>
            <a:pPr lvl="0"/>
            <a:r>
              <a:rPr lang="en-US"/>
              <a:t>Organization, Division or Business Unit</a:t>
            </a:r>
          </a:p>
          <a:p>
            <a:pPr lvl="0"/>
            <a:r>
              <a:rPr lang="en-US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311639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6D6FFA39-C5A8-964A-B2FE-D6F8EB7EB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7315-8D61-4C6A-B9C0-F07567A04C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1175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7CAD67-FAD1-46CA-BDA2-0A0141647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7001-FB5A-4601-97ED-F7B118AEEF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561F1-3666-4956-BFDC-75350F7446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022C-732A-4A28-8D73-4FE28C0CA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22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53E58D20-1E4E-43E2-88A3-52402E9A1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7862753" y="25409"/>
            <a:ext cx="4326976" cy="2552429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Title goes here (up to two lines) </a:t>
            </a:r>
            <a:br>
              <a:rPr lang="en-US"/>
            </a:br>
            <a:r>
              <a:rPr lang="en-US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59C6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Presenter’s Title</a:t>
            </a:r>
          </a:p>
          <a:p>
            <a:pPr lvl="0"/>
            <a:r>
              <a:rPr lang="en-US"/>
              <a:t>Organization, Division or Business Unit</a:t>
            </a:r>
          </a:p>
          <a:p>
            <a:pPr lvl="0"/>
            <a:r>
              <a:rPr lang="en-US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F245C91-10B8-42A5-9343-B8007DFEA4E7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091730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1AB5E956-2EDB-D344-BA59-AB352F62D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199"/>
            <a:ext cx="10671175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68516-E3E0-4F22-9EB7-1A85E1D3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FE7D-30FF-45E2-9F8B-D073887C33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A7F3B8-F794-4AF5-B07B-32A3084A6A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7290E2-8EA8-4572-BB48-C180072017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91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4937DF73-DD65-ED42-A070-3D57E267C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F59826-0B3C-4973-B5FA-B18F68758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1B51-6B36-47A4-903E-93C057BB06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7F1A-871E-41E8-ADDC-EC649B1827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5DE06-0B0B-4818-81DB-FDBB019FF7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84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28C366F9-78A6-F740-87C8-B4D59AEB6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58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9724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662519-4941-4045-9F0E-DBC7AD6CC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807CE-245D-4F0E-ACCB-E3FE7584A0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C87038-F332-48C5-BA1A-25E9350762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BF160E-FC2C-48A7-921B-3472529A1B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91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DCCF0BD7-85D3-194F-9793-E38DD2B8F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0D675-D1C2-4EC5-AC43-361941EA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D1004-DEA1-4BAF-97C2-F49A471F4E4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7C943-7B6D-4881-926B-CD58E0F2AC1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63952-CC43-4F63-8DDF-47B0F45128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8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B017591D-9CE6-7446-94B7-8CEEEAF69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6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0902A-4CDA-482D-90DF-ECACF193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4DB8-9644-4581-BEED-809BCD3EA9C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0DBBB3-F562-4D09-B7E5-45C9C98CE1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C14E1F-DA7F-492C-AFEB-BC17569A90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2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6D31D0E4-AF4F-A542-A6E3-8EBAA9F1B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8575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814CE-3331-469B-8BE8-853F42A03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26386-047A-407D-BEE4-BF9BC2C4C09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A8344-82CB-496F-8690-72CF339725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BA4F-FCB4-4B89-BEA0-1B33D86D6DE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21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6F66DACA-117A-D443-A12C-B547719EC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6"/>
            <a:ext cx="247802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67A894-8EF4-484B-BF49-DF2E9F970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22C40-A387-420C-B07A-9F6BE08313A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50E71C-CB99-4BD4-8252-ED7D062329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33CF2B-9E35-4547-8232-5DE4CC57C30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01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A646CDE3-61DE-5F4A-A6EA-E5FECEFF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07F0167-116B-4B46-AC07-0CF33541B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3207C4-681D-4388-B80E-EE2FA349AF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EB1D7-DB39-4B87-83A2-C41A68F7435E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1DB1E-E699-4B1A-BFD3-5F9D0BCDB86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2DF93-F6AF-4392-A308-BFC8349686D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03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Numbered Out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8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Numbered Outline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B0AED4-660C-4741-9A22-50FB3CA4AB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6095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36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2836A0A9-B46B-8E44-BD88-E6FFEC5F9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A59691D8-12D1-8E4C-8346-D9FD6743C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F5A0DB-77B7-43EC-848A-C3EEA5F4D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928A2-36B1-4B61-82B8-0724A988B96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365B2-9A7D-4291-A052-A65B0C767BB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1CBF8-87F2-4E8D-9C05-48F5D29D5D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48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Tag">
            <a:extLst>
              <a:ext uri="{FF2B5EF4-FFF2-40B4-BE49-F238E27FC236}">
                <a16:creationId xmlns:a16="http://schemas.microsoft.com/office/drawing/2014/main" id="{1CFFF60E-C73F-41DD-B4B9-8792F4C0D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1" name="Cloud">
            <a:extLst>
              <a:ext uri="{FF2B5EF4-FFF2-40B4-BE49-F238E27FC236}">
                <a16:creationId xmlns:a16="http://schemas.microsoft.com/office/drawing/2014/main" id="{A2A0E6A0-6580-9B4E-8437-9949DBFBF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CACB-46C4-4A42-8159-4ABC00F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ED7B6-E930-4B73-845F-99262175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91DFD-B788-4684-96F9-4DD21020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62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05859F96-E4B3-8747-B027-10CA6EDB3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95A570-6FAE-4393-89B0-E6BA7AC6B3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92EEA-DB03-4E8E-B6AB-1122F317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5D96-D6C9-4E8C-9D41-A28C7CED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D253-6DDA-4486-89F6-5D573286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98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93BCC98D-F462-9844-9660-2EA01F13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9E3D4-8DE9-4EE7-AF46-396CA0361B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ABD9F-CF7B-4739-A09B-21C74EE3D7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26A2-CE99-456C-A450-2DC676458C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22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90C14E-647D-DE45-A3FE-3E841253B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 r="-1"/>
          <a:stretch/>
        </p:blipFill>
        <p:spPr>
          <a:xfrm>
            <a:off x="6095574" y="0"/>
            <a:ext cx="6096425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Metr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B54DF6-D8D9-3E4B-A5D4-8DB1B36A2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/>
          <a:stretch/>
        </p:blipFill>
        <p:spPr>
          <a:xfrm>
            <a:off x="6096000" y="0"/>
            <a:ext cx="6096348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E8A7F756-6885-FD4D-8CAC-01911AF9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A6D6F1-EBC4-4335-819B-433720EB17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85287" cy="2415700"/>
          </a:xfrm>
        </p:spPr>
        <p:txBody>
          <a:bodyPr anchor="b" anchorCtr="0"/>
          <a:lstStyle>
            <a:lvl1pPr>
              <a:defRPr sz="8000" b="1">
                <a:solidFill>
                  <a:srgbClr val="759C6C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8375C-46BC-48EA-9DFC-3DF06967D7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DF6E-494A-4D98-888D-68B724E48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C2851-E9BE-4691-AE94-635936A667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40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B6F3C-673A-2C4F-BDD8-A174DA9D4B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C6ADE0F8-03AA-E84C-A08A-799EE14D7C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F2B49-8199-43EF-9C31-2EE3E227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A680-202A-4EB8-8426-F81FE6C1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B772-BB21-406A-A2FE-5A714746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3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60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14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712D2-1637-4940-A323-42EBA61AD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A956C-AFD4-4D95-9304-BB81E2E1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782E6-C6D7-4588-8CDE-8BB252C5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D6286E-40B3-4954-877E-F88E2191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D5B665-2B39-6645-BF1F-C5F9BD830A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CFD62-A920-45CB-9691-083BA564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8371-BFE0-4C4C-9EC8-651A5979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C47787-CD64-4386-A100-73FB94F8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02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3852C-D243-4D5A-B7E1-09812A4D6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3825-1D38-4C39-8F70-C060E9BEE3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87050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479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12D05-859A-4FDE-924B-FB9169621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BB3CE-1E42-4557-A754-EAB09439D6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77525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2798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E69D29-7337-6248-888D-2A0330852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199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CB9AC92-58C2-B14E-81EA-F40548FD4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798" y="0"/>
            <a:ext cx="7315201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AA2A5D2-AD0A-4DBD-927A-96DC377BC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EB6C0-1F5B-4135-8E18-A04A68550D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>
            <a:normAutofit/>
          </a:bodyPr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2B3ED-CF2C-4067-92C1-D268C952FB0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E0BF7F-49D0-4680-97A6-57F3353BC73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D3ACE9-71BB-462A-B503-22DE7B536BD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54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Data Texture Image">
            <a:extLst>
              <a:ext uri="{FF2B5EF4-FFF2-40B4-BE49-F238E27FC236}">
                <a16:creationId xmlns:a16="http://schemas.microsoft.com/office/drawing/2014/main" id="{B04AAB1E-3886-45C0-9EE7-ABD1360D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  <a:ln>
            <a:noFill/>
          </a:ln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Quote with Data Texture Backgro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Data Texture Image">
            <a:extLst>
              <a:ext uri="{FF2B5EF4-FFF2-40B4-BE49-F238E27FC236}">
                <a16:creationId xmlns:a16="http://schemas.microsoft.com/office/drawing/2014/main" id="{8A6273FB-BF91-403E-A6FD-7515A6D8B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Quote">
            <a:extLst>
              <a:ext uri="{FF2B5EF4-FFF2-40B4-BE49-F238E27FC236}">
                <a16:creationId xmlns:a16="http://schemas.microsoft.com/office/drawing/2014/main" id="{70860AE5-51F4-4600-B7C5-0FFE1F5EE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22040" cy="1963350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F70D2C9-2534-48AA-9A8A-D82D5A31B2F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26C9C3-D9C8-4222-B161-D7AF97BC1F4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C126A-0D05-424A-A6C2-80119CEAE618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D685BD-0D80-40FF-88C3-58BBDF890F03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0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D79573CA-7EF3-46CE-91D4-01D1A2F17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Quot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E7972264-22BA-4EDF-A0AC-13C683A7D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8728" y="2435027"/>
            <a:ext cx="6051272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85816" y="4983135"/>
            <a:ext cx="6051272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85816" y="5320728"/>
            <a:ext cx="6051272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0D7B12AA-E756-4885-BD64-8DBE9AAC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09CBC8C-115F-4556-A4E2-129D0E230A87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3D1FF3-649D-46E2-9FDF-D1A77643F22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CAD6-29C8-4422-A48D-D8830936B44F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2E353-DA56-4DDC-BA6A-8DBF5B35499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F77D-AAE1-49E0-8C46-83975B4AC82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19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i">
            <a:extLst>
              <a:ext uri="{FF2B5EF4-FFF2-40B4-BE49-F238E27FC236}">
                <a16:creationId xmlns:a16="http://schemas.microsoft.com/office/drawing/2014/main" id="{1F390879-C7C7-4224-97BB-1C165BFB5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3973"/>
            <a:ext cx="5029200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DF9E-BB65-47CA-AE22-65479E3B2B11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FAC2-A591-4775-8C17-E779B858098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E80B-FDBC-4834-99C6-9621F96B9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97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racle Logo" descr="Oracle Logo">
            <a:extLst>
              <a:ext uri="{FF2B5EF4-FFF2-40B4-BE49-F238E27FC236}">
                <a16:creationId xmlns:a16="http://schemas.microsoft.com/office/drawing/2014/main" id="{11C3E469-1A28-4EAE-BB94-ADAB90F021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3647854" y="2915192"/>
            <a:ext cx="4896292" cy="1027617"/>
          </a:xfrm>
          <a:prstGeom prst="rect">
            <a:avLst/>
          </a:prstGeom>
        </p:spPr>
      </p:pic>
      <p:pic>
        <p:nvPicPr>
          <p:cNvPr id="3" name="OTag">
            <a:extLst>
              <a:ext uri="{FF2B5EF4-FFF2-40B4-BE49-F238E27FC236}">
                <a16:creationId xmlns:a16="http://schemas.microsoft.com/office/drawing/2014/main" id="{D41E7D90-EFED-4319-B620-7C6158CCE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23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lustration">
            <a:extLst>
              <a:ext uri="{FF2B5EF4-FFF2-40B4-BE49-F238E27FC236}">
                <a16:creationId xmlns:a16="http://schemas.microsoft.com/office/drawing/2014/main" id="{7F6A0B0D-9890-B044-B4D0-946D1FDB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 userDrawn="1"/>
        </p:nvSpPr>
        <p:spPr>
          <a:xfrm>
            <a:off x="768876" y="1828800"/>
            <a:ext cx="6053328" cy="22793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Our mission is to help people see data in new ways, discover insights,</a:t>
            </a:r>
            <a:br>
              <a:rPr lang="en-US"/>
            </a:br>
            <a:r>
              <a:rPr lang="en-US"/>
              <a:t>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D86BA-0324-4CFB-8752-C34AB1C7DA95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3FCF3-AE26-4DE7-A6C3-3940B3E78E3F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divider title (up to 2 lines)</a:t>
            </a:r>
          </a:p>
        </p:txBody>
      </p:sp>
      <p:sp>
        <p:nvSpPr>
          <p:cNvPr id="10" name="Subhead">
            <a:extLst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4259241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ght - 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407DA789-B767-4A77-A75D-9C385AFC33B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68875" y="161778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">
            <a:extLst>
              <a:ext uri="{FF2B5EF4-FFF2-40B4-BE49-F238E27FC236}">
                <a16:creationId xmlns:a16="http://schemas.microsoft.com/office/drawing/2014/main" id="{B05AFF25-B817-40B5-8816-66323F71121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461645" y="161778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Column Divider 2">
            <a:extLst>
              <a:ext uri="{FF2B5EF4-FFF2-40B4-BE49-F238E27FC236}">
                <a16:creationId xmlns:a16="http://schemas.microsoft.com/office/drawing/2014/main" id="{43000B2C-7C76-4F07-AF50-5F3019C38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">
            <a:extLst>
              <a:ext uri="{FF2B5EF4-FFF2-40B4-BE49-F238E27FC236}">
                <a16:creationId xmlns:a16="http://schemas.microsoft.com/office/drawing/2014/main" id="{C63785FA-1D21-47B6-A7F2-29E72865C9A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54414" y="161778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241938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6BF5D6F2-6C6B-4DA4-AC0C-00E6A19878C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68875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Column Divider">
            <a:extLst>
              <a:ext uri="{FF2B5EF4-FFF2-40B4-BE49-F238E27FC236}">
                <a16:creationId xmlns:a16="http://schemas.microsoft.com/office/drawing/2014/main" id="{0F3461D4-649E-40E4-87F7-441B5AAD9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">
            <a:extLst>
              <a:ext uri="{FF2B5EF4-FFF2-40B4-BE49-F238E27FC236}">
                <a16:creationId xmlns:a16="http://schemas.microsoft.com/office/drawing/2014/main" id="{E5CE6DCB-8E0A-4B53-B64C-7BDFACF00EB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494491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Column Divider 2">
            <a:extLst>
              <a:ext uri="{FF2B5EF4-FFF2-40B4-BE49-F238E27FC236}">
                <a16:creationId xmlns:a16="http://schemas.microsoft.com/office/drawing/2014/main" id="{E064F13D-89AB-46BC-A0F8-2756D43C7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">
            <a:extLst>
              <a:ext uri="{FF2B5EF4-FFF2-40B4-BE49-F238E27FC236}">
                <a16:creationId xmlns:a16="http://schemas.microsoft.com/office/drawing/2014/main" id="{F5D5DEA3-2814-41A5-B682-5701E98CEDF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37692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2" name="Column Divider 3">
            <a:extLst>
              <a:ext uri="{FF2B5EF4-FFF2-40B4-BE49-F238E27FC236}">
                <a16:creationId xmlns:a16="http://schemas.microsoft.com/office/drawing/2014/main" id="{84710BBB-C09A-40C7-9EBC-25ADD5DA9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">
            <a:extLst>
              <a:ext uri="{FF2B5EF4-FFF2-40B4-BE49-F238E27FC236}">
                <a16:creationId xmlns:a16="http://schemas.microsoft.com/office/drawing/2014/main" id="{1C9BA945-2582-4E81-8214-CB38E96D1DD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980892" y="1624695"/>
            <a:ext cx="2478024" cy="4491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3430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2025, Oracle and/or its affiliates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917" r:id="rId2"/>
    <p:sldLayoutId id="2147483928" r:id="rId3"/>
    <p:sldLayoutId id="2147483893" r:id="rId4"/>
    <p:sldLayoutId id="2147483774" r:id="rId5"/>
    <p:sldLayoutId id="2147483919" r:id="rId6"/>
    <p:sldLayoutId id="2147483922" r:id="rId7"/>
    <p:sldLayoutId id="2147483929" r:id="rId8"/>
    <p:sldLayoutId id="2147483920" r:id="rId9"/>
    <p:sldLayoutId id="2147483930" r:id="rId10"/>
    <p:sldLayoutId id="2147483931" r:id="rId11"/>
    <p:sldLayoutId id="2147483932" r:id="rId12"/>
    <p:sldLayoutId id="2147483936" r:id="rId13"/>
    <p:sldLayoutId id="2147483937" r:id="rId14"/>
    <p:sldLayoutId id="2147483933" r:id="rId15"/>
    <p:sldLayoutId id="2147483935" r:id="rId16"/>
    <p:sldLayoutId id="2147483938" r:id="rId17"/>
    <p:sldLayoutId id="2147483939" r:id="rId18"/>
    <p:sldLayoutId id="2147483761" r:id="rId19"/>
    <p:sldLayoutId id="2147483940" r:id="rId20"/>
    <p:sldLayoutId id="2147483969" r:id="rId21"/>
    <p:sldLayoutId id="2147483970" r:id="rId22"/>
    <p:sldLayoutId id="2147483974" r:id="rId23"/>
    <p:sldLayoutId id="2147483975" r:id="rId24"/>
    <p:sldLayoutId id="2147483781" r:id="rId25"/>
    <p:sldLayoutId id="2147483941" r:id="rId26"/>
    <p:sldLayoutId id="2147483756" r:id="rId27"/>
    <p:sldLayoutId id="2147483914" r:id="rId28"/>
    <p:sldLayoutId id="2147483754" r:id="rId29"/>
    <p:sldLayoutId id="2147483915" r:id="rId30"/>
    <p:sldLayoutId id="2147483778" r:id="rId31"/>
    <p:sldLayoutId id="2147483916" r:id="rId32"/>
    <p:sldLayoutId id="2147483762" r:id="rId33"/>
    <p:sldLayoutId id="2147483942" r:id="rId34"/>
    <p:sldLayoutId id="2147483766" r:id="rId35"/>
    <p:sldLayoutId id="2147483894" r:id="rId36"/>
    <p:sldLayoutId id="2147483769" r:id="rId37"/>
    <p:sldLayoutId id="2147483895" r:id="rId38"/>
    <p:sldLayoutId id="2147483768" r:id="rId39"/>
    <p:sldLayoutId id="2147483897" r:id="rId40"/>
    <p:sldLayoutId id="2147483898" r:id="rId41"/>
    <p:sldLayoutId id="2147483905" r:id="rId42"/>
    <p:sldLayoutId id="2147483749" r:id="rId43"/>
    <p:sldLayoutId id="2147483908" r:id="rId44"/>
    <p:sldLayoutId id="2147483751" r:id="rId45"/>
    <p:sldLayoutId id="2147483945" r:id="rId46"/>
    <p:sldLayoutId id="2147483752" r:id="rId47"/>
    <p:sldLayoutId id="2147483912" r:id="rId48"/>
    <p:sldLayoutId id="2147483763" r:id="rId49"/>
    <p:sldLayoutId id="2147483943" r:id="rId50"/>
    <p:sldLayoutId id="2147483744" r:id="rId51"/>
    <p:sldLayoutId id="2147483944" r:id="rId52"/>
    <p:sldLayoutId id="2147483742" r:id="rId53"/>
    <p:sldLayoutId id="2147483972" r:id="rId54"/>
    <p:sldLayoutId id="2147483973" r:id="rId55"/>
    <p:sldLayoutId id="2147483977" r:id="rId56"/>
    <p:sldLayoutId id="2147483979" r:id="rId5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A64A05-C63F-247F-3C81-91FF3522B7A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IN" sz="1400" b="1" dirty="0"/>
              <a:t>Key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Real-Time Anomaly Detection</a:t>
            </a:r>
            <a:r>
              <a:rPr lang="en-IN" sz="1400" dirty="0"/>
              <a:t> (every 5 mins using MSET)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Cross-Layer Correlation</a:t>
            </a:r>
            <a:r>
              <a:rPr lang="en-IN" sz="1400" dirty="0"/>
              <a:t> (DB ↔ SQL ↔ OS ↔ ASM ↔ Exadata)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Graph ML Root Cause Analysis</a:t>
            </a:r>
            <a:r>
              <a:rPr lang="en-IN" sz="1400" dirty="0"/>
              <a:t> (identify true source of issues)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Predictive Forecasting</a:t>
            </a:r>
            <a:r>
              <a:rPr lang="en-IN" sz="1400" dirty="0"/>
              <a:t> (capacity &amp; workload using ESM)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Failure Propagation Tracking</a:t>
            </a:r>
            <a:r>
              <a:rPr lang="en-IN" sz="1400" dirty="0"/>
              <a:t> (understand impact chain)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AI-Ready Architecture</a:t>
            </a:r>
            <a:r>
              <a:rPr lang="en-IN" sz="1400" dirty="0"/>
              <a:t> (LLM integration for auto RCA &amp; recommendations)</a:t>
            </a:r>
          </a:p>
          <a:p>
            <a:endParaRPr lang="en-IN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9EB6-CC4A-90E3-85BD-2756B66BD78D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N" sz="1400" b="1" dirty="0"/>
              <a:t>Business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 MTTR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Prevent outages via </a:t>
            </a:r>
            <a:r>
              <a:rPr lang="en-IN" sz="1400" b="1" dirty="0"/>
              <a:t>early anomaly detection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Eliminate guesswork with </a:t>
            </a:r>
            <a:r>
              <a:rPr lang="en-IN" sz="1400" b="1" dirty="0"/>
              <a:t>accurate root cause identification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 capacity planning &amp; resource utilization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Enable safe, governed AI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942D4-4C0D-74B7-3569-49E1A9C41EB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N" sz="1400" b="1" dirty="0"/>
              <a:t>Key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Proactive Operations</a:t>
            </a:r>
            <a:r>
              <a:rPr lang="en-IN" sz="1400" dirty="0"/>
              <a:t> instead of reactive firefighting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Single-pane visibility</a:t>
            </a:r>
            <a:r>
              <a:rPr lang="en-IN" sz="1400" dirty="0"/>
              <a:t> across entire Oracle stack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Automated RCA</a:t>
            </a:r>
            <a:r>
              <a:rPr lang="en-IN" sz="1400" dirty="0"/>
              <a:t> replacing manual troubleshooting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Higher system reliability &amp; performance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Foundation for </a:t>
            </a:r>
            <a:r>
              <a:rPr lang="en-IN" sz="1400" b="1" dirty="0"/>
              <a:t>Autonomous DBA / AIOps platform</a:t>
            </a:r>
            <a:endParaRPr lang="en-IN" sz="1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982EF8-ED41-ACC8-B993-A54F7A962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rPr lang="en-IN" dirty="0"/>
              <a:t>Guard-AI: Database &amp; Infrastructure Intelligence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19659-F7F4-2856-E018-7C4736C894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1B2E2-1D8A-A46A-C72C-59B217BC34F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30228-5C37-E6F7-360E-DD02D9840792}"/>
              </a:ext>
            </a:extLst>
          </p:cNvPr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AI-driven ops platform using OEM, ML, and Graph ML for real-time anomaly detection, root cause analysis, and predictive insights across DB, SQL, OS, ASM, and Exadata.</a:t>
            </a:r>
            <a:endParaRPr lang="en-IN" sz="12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6E88F89-F8C2-1E37-9E12-9C6EC9D5F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877" y="5942688"/>
            <a:ext cx="7765984" cy="423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Insight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“SQL slowdown detected → traced to DB I/O → ASM latency → Exadata cell issue → Root Cause: CELL07”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95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C328B-76C7-E005-93DA-659EABE64F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1600" b="1" dirty="0"/>
              <a:t>Key Benefits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High-Throughput Transaction Processing</a:t>
            </a:r>
            <a:br>
              <a:rPr lang="en-US" sz="1400" dirty="0"/>
            </a:br>
            <a:r>
              <a:rPr lang="en-US" sz="1400" dirty="0"/>
              <a:t>Designed to handle millions of concurrent transactions with consistent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Intelligent Transaction Routing</a:t>
            </a:r>
            <a:br>
              <a:rPr lang="en-US" sz="1400" dirty="0"/>
            </a:br>
            <a:r>
              <a:rPr lang="en-US" sz="1400" dirty="0"/>
              <a:t>Dynamically routes workloads across nodes to avoid hotspots and ensure optimal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Resilient &amp; Scalable Architecture</a:t>
            </a:r>
            <a:br>
              <a:rPr lang="en-US" sz="1400" dirty="0"/>
            </a:br>
            <a:r>
              <a:rPr lang="en-US" sz="1400" dirty="0"/>
              <a:t>Built for horizontal scaling with fault tolerance across RAC / distributed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Workload-Aware Optimization</a:t>
            </a:r>
            <a:br>
              <a:rPr lang="en-US" sz="1400" dirty="0"/>
            </a:br>
            <a:r>
              <a:rPr lang="en-US" sz="1400" dirty="0"/>
              <a:t>Differentiates OLTP, batch, and heavy SQL to maintain performance under mixed workloads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Efficient Resource Utilization</a:t>
            </a:r>
            <a:br>
              <a:rPr lang="en-US" sz="1400" dirty="0"/>
            </a:br>
            <a:r>
              <a:rPr lang="en-US" sz="1400" dirty="0"/>
              <a:t>Minimizes contention (redo, locks, CPU, IO) through optimized execution strategies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E3C7F-78CE-5222-2849-E50A22B1DC2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N" sz="1600" b="1" dirty="0"/>
              <a:t>Business Outcomes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Faster Transaction Response Times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Higher Throughput During Peak Loads (e.g., UPI spikes)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Improved System Stability Under Heavy Concurrency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Reduced Transaction Failures &amp; Retries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Better Infrastructure Efficiency at Scale</a:t>
            </a:r>
            <a:endParaRPr lang="en-IN" sz="1400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98CB08-2A66-026F-2BA0-F0E001E1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HyperTxn</a:t>
            </a:r>
            <a:r>
              <a:rPr lang="en-IN" dirty="0"/>
              <a:t> AI – Powering Hyper-Scale Transaction Performance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66B97-46A3-D786-A25B-29B21925C6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2025, Oracle and/or its affiliates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19C84-68FE-118B-EC4A-518EFB92968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83EE1-8FE8-349E-06CC-99083797E4B0}"/>
              </a:ext>
            </a:extLst>
          </p:cNvPr>
          <p:cNvSpPr txBox="1"/>
          <p:nvPr/>
        </p:nvSpPr>
        <p:spPr>
          <a:xfrm>
            <a:off x="606016" y="5731004"/>
            <a:ext cx="11466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Enables a </a:t>
            </a:r>
            <a:r>
              <a:rPr lang="en-US" sz="1200" b="1" dirty="0"/>
              <a:t>robust, high-performance transaction backbone</a:t>
            </a:r>
            <a:r>
              <a:rPr lang="en-US" sz="1200" dirty="0"/>
              <a:t> for mission-critical systems, supporting </a:t>
            </a:r>
            <a:r>
              <a:rPr lang="en-US" sz="1200" b="1" dirty="0"/>
              <a:t>real-time, large-scale digital workloads with reliability and speed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1467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Oracle Internal · Technical Enablement  —  a complete hands-on course: architecture, ad-hoc commands, playbooks, variables, templates, roles, error handling and AWS provisioning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Ansible Automation with Playbooks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Part 1 · Foundations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Why Ansible</a:t>
            </a:r>
            <a:r>
              <a:rPr b="0" i="0" sz="1400">
                <a:solidFill>
                  <a:srgbClr val="312D2A"/>
                </a:solidFill>
              </a:rPr>
              <a:t> &amp; the problem at scale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Architecture</a:t>
            </a:r>
            <a:r>
              <a:rPr b="0" i="0" sz="1400">
                <a:solidFill>
                  <a:srgbClr val="312D2A"/>
                </a:solidFill>
              </a:rPr>
              <a:t> &amp; how it works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Install</a:t>
            </a:r>
            <a:r>
              <a:rPr b="0" i="0" sz="1400">
                <a:solidFill>
                  <a:srgbClr val="312D2A"/>
                </a:solidFill>
              </a:rPr>
              <a:t> &amp; configure the engine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Inventory</a:t>
            </a:r>
            <a:r>
              <a:rPr b="0" i="0" sz="1400">
                <a:solidFill>
                  <a:srgbClr val="312D2A"/>
                </a:solidFill>
              </a:rPr>
              <a:t>, auth, editors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Part 2/3 · Core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Ad-hoc commands</a:t>
            </a:r>
            <a:r>
              <a:rPr b="0" i="0" sz="1400">
                <a:solidFill>
                  <a:srgbClr val="312D2A"/>
                </a:solidFill>
              </a:rPr>
              <a:t> &amp; modules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Facts</a:t>
            </a:r>
            <a:r>
              <a:rPr b="0" i="0" sz="1400">
                <a:solidFill>
                  <a:srgbClr val="312D2A"/>
                </a:solidFill>
              </a:rPr>
              <a:t>: default &amp; custom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Inventories</a:t>
            </a:r>
            <a:r>
              <a:rPr b="0" i="0" sz="1400">
                <a:solidFill>
                  <a:srgbClr val="312D2A"/>
                </a:solidFill>
              </a:rPr>
              <a:t>: static / dynamic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Playbooks</a:t>
            </a:r>
            <a:r>
              <a:rPr b="0" i="0" sz="1400">
                <a:solidFill>
                  <a:srgbClr val="312D2A"/>
                </a:solidFill>
              </a:rPr>
              <a:t>, variables, operators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Conditionals, loops, handlers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Part 3/4 · Advanced &amp; Cloud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Tags, error handling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import/include, delegation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Templates, Vault, Roles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Tomcat project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AWS provisioning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Course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Twenty-one modules in four progressive parts — every topic paired with runnable examples.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Prerequisites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Any Linux flavor</a:t>
            </a:r>
            <a:r>
              <a:rPr b="0" i="0" sz="1400">
                <a:solidFill>
                  <a:srgbClr val="312D2A"/>
                </a:solidFill>
              </a:rPr>
              <a:t> — RHEL, CentOS, Ubuntu, Debian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Basic shell</a:t>
            </a:r>
            <a:r>
              <a:rPr b="0" i="0" sz="1400">
                <a:solidFill>
                  <a:srgbClr val="312D2A"/>
                </a:solidFill>
              </a:rPr>
              <a:t> &amp; SSH familiarity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cloud or VMware</a:t>
            </a:r>
            <a:r>
              <a:rPr b="0" i="0" sz="1400">
                <a:solidFill>
                  <a:srgbClr val="312D2A"/>
                </a:solidFill>
              </a:rPr>
              <a:t> environment helps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Python</a:t>
            </a:r>
            <a:r>
              <a:rPr b="0" i="0" sz="1400">
                <a:solidFill>
                  <a:srgbClr val="312D2A"/>
                </a:solidFill>
              </a:rPr>
              <a:t> only needed to write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you'll be able to do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Automate</a:t>
            </a:r>
            <a:r>
              <a:rPr b="0" i="0" sz="1400">
                <a:solidFill>
                  <a:srgbClr val="312D2A"/>
                </a:solidFill>
              </a:rPr>
              <a:t> config across a fleet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Write</a:t>
            </a:r>
            <a:r>
              <a:rPr b="0" i="0" sz="1400">
                <a:solidFill>
                  <a:srgbClr val="312D2A"/>
                </a:solidFill>
              </a:rPr>
              <a:t> clean, idempotent playbooks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</a:t>
            </a:r>
            <a:r>
              <a:rPr b="0" i="0" sz="1400">
                <a:solidFill>
                  <a:srgbClr val="312D2A"/>
                </a:solidFill>
              </a:rPr>
              <a:t> per-server configuration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Package</a:t>
            </a:r>
            <a:r>
              <a:rPr b="0" i="0" sz="1400">
                <a:solidFill>
                  <a:srgbClr val="312D2A"/>
                </a:solidFill>
              </a:rPr>
              <a:t> work into reusable roles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Provision</a:t>
            </a:r>
            <a:r>
              <a:rPr b="0" i="0" sz="1400">
                <a:solidFill>
                  <a:srgbClr val="312D2A"/>
                </a:solidFill>
              </a:rPr>
              <a:t> AWS infrastructure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Before We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What you should know, and what this course will make you capable 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Foundations &amp;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Why Ansible exists, how it is built, and how to stand it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Doing it by hand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Log in</a:t>
            </a:r>
            <a:r>
              <a:rPr b="0" i="0" sz="1400">
                <a:solidFill>
                  <a:srgbClr val="312D2A"/>
                </a:solidFill>
              </a:rPr>
              <a:t> to each server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Check</a:t>
            </a:r>
            <a:r>
              <a:rPr b="0" i="0" sz="1400">
                <a:solidFill>
                  <a:srgbClr val="312D2A"/>
                </a:solidFill>
              </a:rPr>
              <a:t> whether packages exist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Install</a:t>
            </a:r>
            <a:r>
              <a:rPr b="0" i="0" sz="1400">
                <a:solidFill>
                  <a:srgbClr val="312D2A"/>
                </a:solidFill>
              </a:rPr>
              <a:t> what's missing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~6 min/server</a:t>
            </a:r>
            <a:r>
              <a:rPr b="0" i="0" sz="1400">
                <a:solidFill>
                  <a:srgbClr val="312D2A"/>
                </a:solidFill>
              </a:rPr>
              <a:t> × 100 = 10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With a shell script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Reusable</a:t>
            </a:r>
            <a:r>
              <a:rPr b="0" i="0" sz="1400">
                <a:solidFill>
                  <a:srgbClr val="312D2A"/>
                </a:solidFill>
              </a:rPr>
              <a:t> but still per-server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~3 min/server</a:t>
            </a:r>
            <a:r>
              <a:rPr b="0" i="0" sz="1400">
                <a:solidFill>
                  <a:srgbClr val="312D2A"/>
                </a:solidFill>
              </a:rPr>
              <a:t> × 100 = 5 hours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Sequential</a:t>
            </a:r>
            <a:r>
              <a:rPr b="0" i="0" sz="1400">
                <a:solidFill>
                  <a:srgbClr val="312D2A"/>
                </a:solidFill>
              </a:rPr>
              <a:t> and error-prone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Scripts grow</a:t>
            </a:r>
            <a:r>
              <a:rPr b="0" i="0" sz="1400">
                <a:solidFill>
                  <a:srgbClr val="312D2A"/>
                </a:solidFill>
              </a:rPr>
              <a:t> complex fast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Why Ansible? The Problem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same simple task — install vim and wget on 100 servers — told three 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5942688"/>
            <a:ext cx="10671048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sz="1200">
                <a:solidFill>
                  <a:srgbClr val="C74634"/>
                </a:solidFill>
              </a:rPr>
              <a:t>The payoff</a:t>
            </a:r>
          </a:p>
          <a:p>
            <a:r>
              <a:rPr b="0" i="0" sz="1200">
                <a:solidFill>
                  <a:srgbClr val="312D2A"/>
                </a:solidFill>
                <a:latin typeface="Consolas"/>
              </a:rPr>
              <a:t>With Ansible the task runs on all servers in parallel — about 3 minutes for the whole fleet.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Simple &amp; open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Free</a:t>
            </a:r>
            <a:r>
              <a:rPr b="0" i="0" sz="1400">
                <a:solidFill>
                  <a:srgbClr val="312D2A"/>
                </a:solidFill>
              </a:rPr>
              <a:t> and open-source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Easy</a:t>
            </a:r>
            <a:r>
              <a:rPr b="0" i="0" sz="1400">
                <a:solidFill>
                  <a:srgbClr val="312D2A"/>
                </a:solidFill>
              </a:rPr>
              <a:t> to set up, yet powerful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YAML</a:t>
            </a:r>
            <a:r>
              <a:rPr b="0" i="0" sz="1400">
                <a:solidFill>
                  <a:srgbClr val="312D2A"/>
                </a:solidFill>
              </a:rPr>
              <a:t> — readable, short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Agent-less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Uses existing</a:t>
            </a:r>
            <a:r>
              <a:rPr b="0" i="0" sz="1400">
                <a:solidFill>
                  <a:srgbClr val="312D2A"/>
                </a:solidFill>
              </a:rPr>
              <a:t> OpenSSH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Nothing</a:t>
            </a:r>
            <a:r>
              <a:rPr b="0" i="0" sz="1400">
                <a:solidFill>
                  <a:srgbClr val="312D2A"/>
                </a:solidFill>
              </a:rPr>
              <a:t> to install on nodes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Less</a:t>
            </a:r>
            <a:r>
              <a:rPr b="0" i="0" sz="1400">
                <a:solidFill>
                  <a:srgbClr val="312D2A"/>
                </a:solidFill>
              </a:rPr>
              <a:t> to secure &amp; maintain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Flexible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Huge</a:t>
            </a:r>
            <a:r>
              <a:rPr b="0" i="0" sz="1400">
                <a:solidFill>
                  <a:srgbClr val="312D2A"/>
                </a:solidFill>
              </a:rPr>
              <a:t> library of modules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Custom modules</a:t>
            </a:r>
            <a:r>
              <a:rPr b="0" i="0" sz="1400">
                <a:solidFill>
                  <a:srgbClr val="312D2A"/>
                </a:solidFill>
              </a:rPr>
              <a:t> when needed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Python-based</a:t>
            </a:r>
            <a:r>
              <a:rPr b="0" i="0" sz="1400">
                <a:solidFill>
                  <a:srgbClr val="312D2A"/>
                </a:solidFill>
              </a:rPr>
              <a:t> &amp; extensible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Why Ansible? The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 short list of why teams pick Ansible over the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Configuration mgmt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Enforce</a:t>
            </a:r>
            <a:r>
              <a:rPr b="0" i="0" sz="1400">
                <a:solidFill>
                  <a:srgbClr val="312D2A"/>
                </a:solidFill>
              </a:rPr>
              <a:t> a desired state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Packages,</a:t>
            </a:r>
            <a:r>
              <a:rPr b="0" i="0" sz="1400">
                <a:solidFill>
                  <a:srgbClr val="312D2A"/>
                </a:solidFill>
              </a:rPr>
              <a:t> services,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Idempotent</a:t>
            </a:r>
            <a:r>
              <a:rPr b="0" i="0" sz="1400">
                <a:solidFill>
                  <a:srgbClr val="312D2A"/>
                </a:solidFill>
              </a:rPr>
              <a:t>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Deployment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Ship</a:t>
            </a:r>
            <a:r>
              <a:rPr b="0" i="0" sz="1400">
                <a:solidFill>
                  <a:srgbClr val="312D2A"/>
                </a:solidFill>
              </a:rPr>
              <a:t> applications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Roll out</a:t>
            </a:r>
            <a:r>
              <a:rPr b="0" i="0" sz="1400">
                <a:solidFill>
                  <a:srgbClr val="312D2A"/>
                </a:solidFill>
              </a:rPr>
              <a:t> in waves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Repeatable</a:t>
            </a:r>
            <a:r>
              <a:rPr b="0" i="0" sz="1400">
                <a:solidFill>
                  <a:srgbClr val="312D2A"/>
                </a:solidFill>
              </a:rPr>
              <a:t> releases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Orchestration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Coordinate</a:t>
            </a:r>
            <a:r>
              <a:rPr b="0" i="0" sz="1400">
                <a:solidFill>
                  <a:srgbClr val="312D2A"/>
                </a:solidFill>
              </a:rPr>
              <a:t> multi-tier steps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Order</a:t>
            </a:r>
            <a:r>
              <a:rPr b="0" i="0" sz="1400">
                <a:solidFill>
                  <a:srgbClr val="312D2A"/>
                </a:solidFill>
              </a:rPr>
              <a:t> across host groups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Task</a:t>
            </a:r>
            <a:r>
              <a:rPr b="0" i="0" sz="1400">
                <a:solidFill>
                  <a:srgbClr val="312D2A"/>
                </a:solidFill>
              </a:rPr>
              <a:t> automation throughout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What Ansible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Four jobs that Ansible handles from one control node.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On the control node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Engine</a:t>
            </a:r>
            <a:r>
              <a:rPr b="0" i="0" sz="1400">
                <a:solidFill>
                  <a:srgbClr val="312D2A"/>
                </a:solidFill>
              </a:rPr>
              <a:t> / controller / master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Inventory</a:t>
            </a:r>
            <a:r>
              <a:rPr b="0" i="0" sz="1400">
                <a:solidFill>
                  <a:srgbClr val="312D2A"/>
                </a:solidFill>
              </a:rPr>
              <a:t> — list of hosts &amp; groups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ansible.cfg</a:t>
            </a:r>
            <a:r>
              <a:rPr b="0" i="0" sz="1400">
                <a:solidFill>
                  <a:srgbClr val="312D2A"/>
                </a:solidFill>
              </a:rPr>
              <a:t> — engine settings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Modules</a:t>
            </a:r>
            <a:r>
              <a:rPr b="0" i="0" sz="1400">
                <a:solidFill>
                  <a:srgbClr val="312D2A"/>
                </a:solidFill>
              </a:rPr>
              <a:t> — reusable units of work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Playbooks &amp; roles</a:t>
            </a:r>
            <a:r>
              <a:rPr b="0" i="0" sz="1400">
                <a:solidFill>
                  <a:srgbClr val="312D2A"/>
                </a:solidFill>
              </a:rPr>
              <a:t> — your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On the managed nodes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Just SSH</a:t>
            </a:r>
            <a:r>
              <a:rPr b="0" i="0" sz="1400">
                <a:solidFill>
                  <a:srgbClr val="312D2A"/>
                </a:solidFill>
              </a:rPr>
              <a:t> + Python (usually)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agent</a:t>
            </a:r>
            <a:r>
              <a:rPr b="0" i="0" sz="1400">
                <a:solidFill>
                  <a:srgbClr val="312D2A"/>
                </a:solidFill>
              </a:rPr>
              <a:t> installed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Reached</a:t>
            </a:r>
            <a:r>
              <a:rPr b="0" i="0" sz="1400">
                <a:solidFill>
                  <a:srgbClr val="312D2A"/>
                </a:solidFill>
              </a:rPr>
              <a:t> by IP / FQDN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Grouped</a:t>
            </a:r>
            <a:r>
              <a:rPr b="0" i="0" sz="1400">
                <a:solidFill>
                  <a:srgbClr val="312D2A"/>
                </a:solidFill>
              </a:rPr>
              <a:t> in the inventory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Ansible Architecture —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 single control node manages many nodes; small programs (modules) do the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Step by step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1. Connect</a:t>
            </a:r>
            <a:r>
              <a:rPr b="0" i="0" sz="1400">
                <a:solidFill>
                  <a:srgbClr val="312D2A"/>
                </a:solidFill>
              </a:rPr>
              <a:t> to the node over SSH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2. Push</a:t>
            </a:r>
            <a:r>
              <a:rPr b="0" i="0" sz="1400">
                <a:solidFill>
                  <a:srgbClr val="312D2A"/>
                </a:solidFill>
              </a:rPr>
              <a:t> a small module to it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3. Execute</a:t>
            </a:r>
            <a:r>
              <a:rPr b="0" i="0" sz="1400">
                <a:solidFill>
                  <a:srgbClr val="312D2A"/>
                </a:solidFill>
              </a:rPr>
              <a:t> the module remotely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4. Return</a:t>
            </a:r>
            <a:r>
              <a:rPr b="0" i="0" sz="1400">
                <a:solidFill>
                  <a:srgbClr val="312D2A"/>
                </a:solidFill>
              </a:rPr>
              <a:t> a JSON result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5. Remove</a:t>
            </a:r>
            <a:r>
              <a:rPr b="0" i="0" sz="1400">
                <a:solidFill>
                  <a:srgbClr val="312D2A"/>
                </a:solidFill>
              </a:rPr>
              <a:t> the module when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Good to know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Modules</a:t>
            </a:r>
            <a:r>
              <a:rPr b="0" i="0" sz="1400">
                <a:solidFill>
                  <a:srgbClr val="312D2A"/>
                </a:solidFill>
              </a:rPr>
              <a:t> are the building blocks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SSH</a:t>
            </a:r>
            <a:r>
              <a:rPr b="0" i="0" sz="1400">
                <a:solidFill>
                  <a:srgbClr val="312D2A"/>
                </a:solidFill>
              </a:rPr>
              <a:t> is the default transport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Parallel</a:t>
            </a:r>
            <a:r>
              <a:rPr b="0" i="0" sz="1400">
                <a:solidFill>
                  <a:srgbClr val="312D2A"/>
                </a:solidFill>
              </a:rPr>
              <a:t> across hosts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Stateless</a:t>
            </a:r>
            <a:r>
              <a:rPr b="0" i="0" sz="1400">
                <a:solidFill>
                  <a:srgbClr val="312D2A"/>
                </a:solidFill>
              </a:rPr>
              <a:t> between runs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How Ansible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execution path for every task Ansible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5942688"/>
            <a:ext cx="10671048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sz="1200">
                <a:solidFill>
                  <a:srgbClr val="C74634"/>
                </a:solidFill>
              </a:rPr>
              <a:t>Tip</a:t>
            </a:r>
          </a:p>
          <a:p>
            <a:r>
              <a:rPr b="0" i="0" sz="1200">
                <a:solidFill>
                  <a:srgbClr val="312D2A"/>
                </a:solidFill>
                <a:latin typeface="Consolas"/>
              </a:rPr>
              <a:t>ANSIBLE_KEEP_REMOTE_FILES=1 keeps the pushed module on the node so you can inspect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Inspecting How Ansible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Verbosity flags and ansible-doc are your windows into the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753628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See exactly what gets pushed to a node (keep the remote files):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ANSIBLE_KEEP_REMOTE_FILES=1 ansible web_servers -m ping -vvv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-v adds detail, -vvv shows the SSH + module transfer: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setup -vvv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List every module Ansible ships with: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ansible-doc -l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ansible-doc -l | grep shell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Read the docs for one module: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ansible-doc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693628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-vvv is invaluable when a connection or module call isn't behaving as expected.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Control node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RHEL / CentOS</a:t>
            </a:r>
            <a:r>
              <a:rPr b="0" i="0" sz="1400">
                <a:solidFill>
                  <a:srgbClr val="312D2A"/>
                </a:solidFill>
              </a:rPr>
              <a:t> / Debian / Ubuntu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Python 2.7</a:t>
            </a:r>
            <a:r>
              <a:rPr b="0" i="0" sz="1400">
                <a:solidFill>
                  <a:srgbClr val="312D2A"/>
                </a:solidFill>
              </a:rPr>
              <a:t> or Python 3.5+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Windows</a:t>
            </a:r>
            <a:r>
              <a:rPr b="0" i="0" sz="1400">
                <a:solidFill>
                  <a:srgbClr val="312D2A"/>
                </a:solidFill>
              </a:rPr>
              <a:t> is not supported as controller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Outbound SSH</a:t>
            </a:r>
            <a:r>
              <a:rPr b="0" i="0" sz="1400">
                <a:solidFill>
                  <a:srgbClr val="312D2A"/>
                </a:solidFill>
              </a:rPr>
              <a:t> to the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Managed nodes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Python 2.6+</a:t>
            </a:r>
            <a:r>
              <a:rPr b="0" i="0" sz="1400">
                <a:solidFill>
                  <a:srgbClr val="312D2A"/>
                </a:solidFill>
              </a:rPr>
              <a:t> or Python 3.5+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Or none</a:t>
            </a:r>
            <a:r>
              <a:rPr b="0" i="0" sz="1400">
                <a:solidFill>
                  <a:srgbClr val="312D2A"/>
                </a:solidFill>
              </a:rPr>
              <a:t> — use the raw module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SSH server</a:t>
            </a:r>
            <a:r>
              <a:rPr b="0" i="0" sz="1400">
                <a:solidFill>
                  <a:srgbClr val="312D2A"/>
                </a:solidFill>
              </a:rPr>
              <a:t> reachable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common user</a:t>
            </a:r>
            <a:r>
              <a:rPr b="0" i="0" sz="1400">
                <a:solidFill>
                  <a:srgbClr val="312D2A"/>
                </a:solidFill>
              </a:rPr>
              <a:t> (e.g. ansadmin)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Installation —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Control node runs on Linux with Python; Windows can only be a managed node.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Using yum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Add</a:t>
            </a:r>
            <a:r>
              <a:rPr b="0" i="0" sz="1400">
                <a:solidFill>
                  <a:srgbClr val="312D2A"/>
                </a:solidFill>
              </a:rPr>
              <a:t> the EPEL repo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yum install ansible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Stable</a:t>
            </a:r>
            <a:r>
              <a:rPr b="0" i="0" sz="1400">
                <a:solidFill>
                  <a:srgbClr val="312D2A"/>
                </a:solidFill>
              </a:rPr>
              <a:t> on RHEL/CentOS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Using pip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pip install ansible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Latest</a:t>
            </a:r>
            <a:r>
              <a:rPr b="0" i="0" sz="1400">
                <a:solidFill>
                  <a:srgbClr val="312D2A"/>
                </a:solidFill>
              </a:rPr>
              <a:t> versions easily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Per-venv</a:t>
            </a:r>
            <a:r>
              <a:rPr b="0" i="0" sz="1400">
                <a:solidFill>
                  <a:srgbClr val="312D2A"/>
                </a:solidFill>
              </a:rPr>
              <a:t> installs possible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From source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Compile</a:t>
            </a:r>
            <a:r>
              <a:rPr b="0" i="0" sz="1400">
                <a:solidFill>
                  <a:srgbClr val="312D2A"/>
                </a:solidFill>
              </a:rPr>
              <a:t> the release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Full control</a:t>
            </a:r>
            <a:r>
              <a:rPr b="0" i="0" sz="1400">
                <a:solidFill>
                  <a:srgbClr val="312D2A"/>
                </a:solidFill>
              </a:rPr>
              <a:t> of the build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Verify:</a:t>
            </a:r>
            <a:r>
              <a:rPr b="0" i="0" sz="1400">
                <a:solidFill>
                  <a:srgbClr val="312D2A"/>
                </a:solidFill>
              </a:rPr>
              <a:t> ansible --version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Installation — Three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Pick the method that fits your platform and update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Install Ansible on CentOS / RHEL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Two supported paths — yum for stability, pip for the newest release.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Check Python is present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python3 --version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Enable EPEL, then install with yum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yum install -y epel-release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yum install -y ansible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Or install the latest with pip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yum install -y python3-pip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pip3 install ansible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Verify the installation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--version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ansible --version also prints the config file and module search paths in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Verify the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 ansible --version on the control node and confirm the version and config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2990780"/>
          </a:xfrm>
          <a:prstGeom prst="roundRect">
            <a:avLst>
              <a:gd name="adj" fmla="val 2500"/>
            </a:avLst>
          </a:prstGeom>
          <a:solidFill>
            <a:srgbClr val="20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300000"/>
          </a:xfrm>
          <a:prstGeom prst="roundRect">
            <a:avLst>
              <a:gd name="adj" fmla="val 6000"/>
            </a:avLst>
          </a:prstGeom>
          <a:solidFill>
            <a:srgbClr val="34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565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565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565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476" y="1498000"/>
            <a:ext cx="10671048" cy="27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b="0" i="0" sz="1050">
                <a:solidFill>
                  <a:srgbClr val="989189"/>
                </a:solidFill>
                <a:latin typeface="Consolas"/>
              </a:rPr>
              <a:t>ansadmin@control: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476" y="1820000"/>
            <a:ext cx="10411048" cy="2630780"/>
          </a:xfrm>
          <a:prstGeom prst="rect">
            <a:avLst/>
          </a:prstGeom>
          <a:noFill/>
        </p:spPr>
        <p:txBody>
          <a:bodyPr wrap="square" lIns="40000" rIns="400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100">
                <a:solidFill>
                  <a:srgbClr val="F6F3F0"/>
                </a:solidFill>
                <a:latin typeface="Consolas"/>
              </a:rPr>
              <a:t>ansible --version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ansible [core 2.16.3]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config file = /home/ansadmin/ansible/ansible.cfg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configured module search path = ['/home/ansadmin/.ansible/plugins/modules']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ansible python module location = /usr/lib/python3.11/site-packages/ansible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ansible collection location = /home/ansadmin/.ansible/collections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executable location = /usr/bin/ansible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python version = 3.11.6 (main) [GCC 11.3.1]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jinja version = 3.1.2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libyaml =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100">
                <a:solidFill>
                  <a:srgbClr val="F6F3F0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Common settings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inventory</a:t>
            </a:r>
            <a:r>
              <a:rPr b="0" i="0" sz="1400">
                <a:solidFill>
                  <a:srgbClr val="312D2A"/>
                </a:solidFill>
              </a:rPr>
              <a:t> — default hosts file location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host_key_checking</a:t>
            </a:r>
            <a:r>
              <a:rPr b="0" i="0" sz="1400">
                <a:solidFill>
                  <a:srgbClr val="312D2A"/>
                </a:solidFill>
              </a:rPr>
              <a:t> — SSH prompt on/off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remote_user</a:t>
            </a:r>
            <a:r>
              <a:rPr b="0" i="0" sz="1400">
                <a:solidFill>
                  <a:srgbClr val="312D2A"/>
                </a:solidFill>
              </a:rPr>
              <a:t> — default login user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forks</a:t>
            </a:r>
            <a:r>
              <a:rPr b="0" i="0" sz="1400">
                <a:solidFill>
                  <a:srgbClr val="312D2A"/>
                </a:solidFill>
              </a:rPr>
              <a:t> — parallelism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roles_path</a:t>
            </a:r>
            <a:r>
              <a:rPr b="0" i="0" sz="1400">
                <a:solidFill>
                  <a:srgbClr val="312D2A"/>
                </a:solidFill>
              </a:rPr>
              <a:t> — where roles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Default location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/etc/ansible/ansible.cfg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Ships</a:t>
            </a:r>
            <a:r>
              <a:rPr b="0" i="0" sz="1400">
                <a:solidFill>
                  <a:srgbClr val="312D2A"/>
                </a:solidFill>
              </a:rPr>
              <a:t> with the installation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Override</a:t>
            </a:r>
            <a:r>
              <a:rPr b="0" i="0" sz="1400">
                <a:solidFill>
                  <a:srgbClr val="312D2A"/>
                </a:solidFill>
              </a:rPr>
              <a:t> per project or user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Pairs with</a:t>
            </a:r>
            <a:r>
              <a:rPr b="0" i="0" sz="1400">
                <a:solidFill>
                  <a:srgbClr val="312D2A"/>
                </a:solidFill>
              </a:rPr>
              <a:t> /etc/ansible/hosts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ansible.cfg — Engine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control node reads settings from a configuration file at startup.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Search order (top wins)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1.</a:t>
            </a:r>
            <a:r>
              <a:rPr b="0" i="0" sz="1400">
                <a:solidFill>
                  <a:srgbClr val="312D2A"/>
                </a:solidFill>
              </a:rPr>
              <a:t> ANSIBLE_CONFIG env variable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2.</a:t>
            </a:r>
            <a:r>
              <a:rPr b="0" i="0" sz="1400">
                <a:solidFill>
                  <a:srgbClr val="312D2A"/>
                </a:solidFill>
              </a:rPr>
              <a:t> ./ansible.cfg (current dir)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3.</a:t>
            </a:r>
            <a:r>
              <a:rPr b="0" i="0" sz="1400">
                <a:solidFill>
                  <a:srgbClr val="312D2A"/>
                </a:solidFill>
              </a:rPr>
              <a:t> ~/.ansible.cfg (home dir)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4.</a:t>
            </a:r>
            <a:r>
              <a:rPr b="0" i="0" sz="1400">
                <a:solidFill>
                  <a:srgbClr val="312D2A"/>
                </a:solidFill>
              </a:rPr>
              <a:t> /etc/ansible/ansible.cfg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Important rule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First match</a:t>
            </a:r>
            <a:r>
              <a:rPr b="0" i="0" sz="1400">
                <a:solidFill>
                  <a:srgbClr val="312D2A"/>
                </a:solidFill>
              </a:rPr>
              <a:t> wins entirely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merging</a:t>
            </a:r>
            <a:r>
              <a:rPr b="0" i="0" sz="1400">
                <a:solidFill>
                  <a:srgbClr val="312D2A"/>
                </a:solidFill>
              </a:rPr>
              <a:t> across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Higher files</a:t>
            </a:r>
            <a:r>
              <a:rPr b="0" i="0" sz="1400">
                <a:solidFill>
                  <a:srgbClr val="312D2A"/>
                </a:solidFill>
              </a:rPr>
              <a:t> aren't consulted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Project cfg</a:t>
            </a:r>
            <a:r>
              <a:rPr b="0" i="0" sz="1400">
                <a:solidFill>
                  <a:srgbClr val="312D2A"/>
                </a:solidFill>
              </a:rPr>
              <a:t> keeps teams consistent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ansible.cfg — Location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Ansible uses the first config file it finds, in this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5942688"/>
            <a:ext cx="10671048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sz="1200">
                <a:solidFill>
                  <a:srgbClr val="C74634"/>
                </a:solidFill>
              </a:rPr>
              <a:t>Tip</a:t>
            </a:r>
          </a:p>
          <a:p>
            <a:r>
              <a:rPr b="0" i="0" sz="1200">
                <a:solidFill>
                  <a:srgbClr val="312D2A"/>
                </a:solidFill>
                <a:latin typeface="Consolas"/>
              </a:rPr>
              <a:t>A project-local ./ansible.cfg lets each repo carry its own settings — a common best practice.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ansible.cfg &amp; Host-key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Turn off the first-connection host-key prompt for smooth automation.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./ansible.cfg  (project-local configuration)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[defaults]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inventory          = ./hosts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host_key_checking  =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remote_user        = ansadmin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forks              = 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roles_path         = ./roles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Prefer not to edit the file? Disable host-key prompt per session: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export ANSIBLE_HOST_KEY_CHECKING=False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Point Ansible at a specific config explicitly: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export ANSIBLE_CONFIG=/path/to/ansible.cfg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Disabling host_key_checking is convenient in labs; weigh it carefully in production.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it defines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Hosts</a:t>
            </a:r>
            <a:r>
              <a:rPr b="0" i="0" sz="1400">
                <a:solidFill>
                  <a:srgbClr val="312D2A"/>
                </a:solidFill>
              </a:rPr>
              <a:t> by IP or FQDN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Groups</a:t>
            </a:r>
            <a:r>
              <a:rPr b="0" i="0" sz="1400">
                <a:solidFill>
                  <a:srgbClr val="312D2A"/>
                </a:solidFill>
              </a:rPr>
              <a:t> of related hosts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Group of groups</a:t>
            </a:r>
            <a:r>
              <a:rPr b="0" i="0" sz="1400">
                <a:solidFill>
                  <a:srgbClr val="312D2A"/>
                </a:solidFill>
              </a:rPr>
              <a:t> with :children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Variables</a:t>
            </a:r>
            <a:r>
              <a:rPr b="0" i="0" sz="1400">
                <a:solidFill>
                  <a:srgbClr val="312D2A"/>
                </a:solidFill>
              </a:rPr>
              <a:t> per host or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Formats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INI</a:t>
            </a:r>
            <a:r>
              <a:rPr b="0" i="0" sz="1400">
                <a:solidFill>
                  <a:srgbClr val="312D2A"/>
                </a:solidFill>
              </a:rPr>
              <a:t> — simple and common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YAML</a:t>
            </a:r>
            <a:r>
              <a:rPr b="0" i="0" sz="1400">
                <a:solidFill>
                  <a:srgbClr val="312D2A"/>
                </a:solidFill>
              </a:rPr>
              <a:t> — structured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Static</a:t>
            </a:r>
            <a:r>
              <a:rPr b="0" i="0" sz="1400">
                <a:solidFill>
                  <a:srgbClr val="312D2A"/>
                </a:solidFill>
              </a:rPr>
              <a:t> files or dynamic scripts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Default:</a:t>
            </a:r>
            <a:r>
              <a:rPr b="0" i="0" sz="1400">
                <a:solidFill>
                  <a:srgbClr val="312D2A"/>
                </a:solidFill>
              </a:rPr>
              <a:t> /etc/ansible/hosts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Inventory — The List of 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collection of hosts Ansible manages, organised into groups.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Static Inventory with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Group hosts by role, then build super-groups with :children.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84711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9FB49A"/>
                </a:solidFill>
                <a:latin typeface="Consolas"/>
              </a:rPr>
              <a:t># /etc/ansible/hosts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[web_servers]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172.31.93.110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172.31.93.120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[db_servers]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172.31.93.132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[app_servers]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54.242.117.70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9FB49A"/>
                </a:solidFill>
                <a:latin typeface="Consolas"/>
              </a:rPr>
              <a:t># Group of groups — combine existing groups: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[production:children]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db_servers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app_servers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9FB49A"/>
                </a:solidFill>
                <a:latin typeface="Consolas"/>
              </a:rPr>
              <a:t># Verify a group is reachable: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9FB49A"/>
                </a:solidFill>
                <a:latin typeface="Consolas"/>
              </a:rPr>
              <a:t>#   ansible web_servers -m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8711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Target any group, host, or comma list on the command line, or in a play's hosts: 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Host &amp; Group Variables in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Inventory can carry per-host and per-group variables alongside the hosts.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Variables attached to a single host: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[web_servers]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172.31.93.110  http_port=8080  max_clients=200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172.31.93.120  http_port=8090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Variables shared by a whole group: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[web_servers:vars]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ansible_user=ansadmin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ansible_python_interpreter=/usr/bin/python3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Disable host-key checking for one host: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[db_servers]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172.31.93.132  ansible_ssh_common_args='-o StrictHostKeyChecking=no'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Cleaner still: keep these in host_vars/ and group_vars/ directories next to the inventory.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Authentication options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Password</a:t>
            </a:r>
            <a:r>
              <a:rPr b="0" i="0" sz="1400">
                <a:solidFill>
                  <a:srgbClr val="312D2A"/>
                </a:solidFill>
              </a:rPr>
              <a:t> authentication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Password-less</a:t>
            </a:r>
            <a:r>
              <a:rPr b="0" i="0" sz="1400">
                <a:solidFill>
                  <a:srgbClr val="312D2A"/>
                </a:solidFill>
              </a:rPr>
              <a:t> with SSH keys (preferred)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Same user</a:t>
            </a:r>
            <a:r>
              <a:rPr b="0" i="0" sz="1400">
                <a:solidFill>
                  <a:srgbClr val="312D2A"/>
                </a:solidFill>
              </a:rPr>
              <a:t> across all nodes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sudo / root</a:t>
            </a:r>
            <a:r>
              <a:rPr b="0" i="0" sz="1400">
                <a:solidFill>
                  <a:srgbClr val="312D2A"/>
                </a:solidFill>
              </a:rPr>
              <a:t> privileges for that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Running as a user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-u &lt;user&gt;</a:t>
            </a:r>
            <a:r>
              <a:rPr b="0" i="0" sz="1400">
                <a:solidFill>
                  <a:srgbClr val="312D2A"/>
                </a:solidFill>
              </a:rPr>
              <a:t> on the command line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remote_user:</a:t>
            </a:r>
            <a:r>
              <a:rPr b="0" i="0" sz="1400">
                <a:solidFill>
                  <a:srgbClr val="312D2A"/>
                </a:solidFill>
              </a:rPr>
              <a:t> in a play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become: yes</a:t>
            </a:r>
            <a:r>
              <a:rPr b="0" i="0" sz="1400">
                <a:solidFill>
                  <a:srgbClr val="312D2A"/>
                </a:solidFill>
              </a:rPr>
              <a:t> to escalate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become_user:</a:t>
            </a:r>
            <a:r>
              <a:rPr b="0" i="0" sz="1400">
                <a:solidFill>
                  <a:srgbClr val="312D2A"/>
                </a:solidFill>
              </a:rPr>
              <a:t> to target a user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Connectivity — Authenticating to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Ansible reaches nodes over SSH, by password or (better) by key.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Password-less SSH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Key-based auth is the standard for hands-off automation.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367035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1. Create the same user on every node, with sudo rights.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2. Ensure  PasswordAuthentication yes  in /etc/ssh/sshd_config.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3. Generate a key pair on the control node: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ssh-keygen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4. Copy the public key to each node: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ssh-copy-id ansadmin@172.31.93.110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ssh-copy-id ansadmin@172.31.93.120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5. Confirm you can log in without a password: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ssh ansadmin@172.31.93.110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6. Test from Ansible: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307035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ansible all -m ping returning "pong" from every node is your go/no-go signal.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First Connection &amp; Privilege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Verify reachability first, then layer in users and privilege escalation.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Ping every node in the inventory: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Ping just one group: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 a command as the login user: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command -a "whoami"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 a command with sudo (become):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command -a "id"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Use a different remote user: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-u ec2-user -m ping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Popular choices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VS Code</a:t>
            </a:r>
            <a:r>
              <a:rPr b="0" i="0" sz="1400">
                <a:solidFill>
                  <a:srgbClr val="312D2A"/>
                </a:solidFill>
              </a:rPr>
              <a:t> — rich Ansible extension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Atom</a:t>
            </a:r>
            <a:r>
              <a:rPr b="0" i="0" sz="1400">
                <a:solidFill>
                  <a:srgbClr val="312D2A"/>
                </a:solidFill>
              </a:rPr>
              <a:t> — lightweight, plugins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vim</a:t>
            </a:r>
            <a:r>
              <a:rPr b="0" i="0" sz="1400">
                <a:solidFill>
                  <a:srgbClr val="312D2A"/>
                </a:solidFill>
              </a:rPr>
              <a:t> with YAML plugins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Indentation</a:t>
            </a:r>
            <a:r>
              <a:rPr b="0" i="0" sz="1400">
                <a:solidFill>
                  <a:srgbClr val="312D2A"/>
                </a:solidFill>
              </a:rPr>
              <a:t> matters — use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the plugins give you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Syntax</a:t>
            </a:r>
            <a:r>
              <a:rPr b="0" i="0" sz="1400">
                <a:solidFill>
                  <a:srgbClr val="312D2A"/>
                </a:solidFill>
              </a:rPr>
              <a:t> highlighting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Linting</a:t>
            </a:r>
            <a:r>
              <a:rPr b="0" i="0" sz="1400">
                <a:solidFill>
                  <a:srgbClr val="312D2A"/>
                </a:solidFill>
              </a:rPr>
              <a:t> &amp; error hints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Snippets</a:t>
            </a:r>
            <a:r>
              <a:rPr b="0" i="0" sz="1400">
                <a:solidFill>
                  <a:srgbClr val="312D2A"/>
                </a:solidFill>
              </a:rPr>
              <a:t> for common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</a:t>
            </a:r>
            <a:r>
              <a:rPr b="0" i="0" sz="1400">
                <a:solidFill>
                  <a:srgbClr val="312D2A"/>
                </a:solidFill>
              </a:rPr>
              <a:t> playbooks from the editor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Editors for Ansible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Write and run playbooks in an editor with YAML and Ansible support.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Install VS Code on CentOS / RHEL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 repo file plus the Ansible extension gives a full authoring setup.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367035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1. Import the Microsoft GPG key: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rpm --import https://packages.microsoft.com/keys/microsoft.asc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2. Create the repo file  /etc/yum.repos.d/vscode.repo 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[code]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name=Visual Studio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baseurl=https://packages.microsoft.com/yumrepos/vscode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enabled=1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gpgcheck=1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gpgkey=https://packages.microsoft.com/keys/microsoft.asc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3. Install and launch: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yum install -y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code 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4. Add the Ansible extension from the marketplace.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307035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Atom follows the same pattern with the AtomEditor packagecloud repo, then add Ansible plugins.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VS Code with the Ansible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Open a playbook in VS Code: YAML highlighting and the Ansible extension active.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4057080"/>
          </a:xfrm>
          <a:prstGeom prst="roundRect">
            <a:avLst>
              <a:gd name="adj" fmla="val 2500"/>
            </a:avLst>
          </a:prstGeom>
          <a:solidFill>
            <a:srgbClr val="20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300000"/>
          </a:xfrm>
          <a:prstGeom prst="roundRect">
            <a:avLst>
              <a:gd name="adj" fmla="val 6000"/>
            </a:avLst>
          </a:prstGeom>
          <a:solidFill>
            <a:srgbClr val="34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565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565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565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476" y="1498000"/>
            <a:ext cx="10671048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i="0" sz="1050">
                <a:solidFill>
                  <a:srgbClr val="989189"/>
                </a:solidFill>
                <a:latin typeface="Consolas"/>
              </a:rPr>
              <a:t>site.yml  —  Visual Studio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476" y="1820000"/>
            <a:ext cx="10411048" cy="3447080"/>
          </a:xfrm>
          <a:prstGeom prst="rect">
            <a:avLst/>
          </a:prstGeom>
          <a:noFill/>
        </p:spPr>
        <p:txBody>
          <a:bodyPr wrap="square" lIns="40000" rIns="400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1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2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Install and start Apache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3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4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5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6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Install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7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20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8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 9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20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present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10  </a:t>
            </a:r>
            <a:r>
              <a:rPr b="0" i="0" sz="1200">
                <a:solidFill>
                  <a:srgbClr val="DAD5CF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11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Start the service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12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200">
                <a:solidFill>
                  <a:srgbClr val="9CC3D5"/>
                </a:solidFill>
                <a:latin typeface="Consolas"/>
              </a:rPr>
              <a:t>service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13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20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6E675F"/>
                </a:solidFill>
                <a:latin typeface="Consolas"/>
              </a:rPr>
              <a:t>14  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20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20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200">
                <a:solidFill>
                  <a:srgbClr val="F0C06A"/>
                </a:solidFill>
                <a:latin typeface="Consolas"/>
              </a:rPr>
              <a:t>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476" y="5277080"/>
            <a:ext cx="10411048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0" sz="1000">
                <a:solidFill>
                  <a:srgbClr val="6E675F"/>
                </a:solidFill>
                <a:latin typeface="Consolas"/>
              </a:rPr>
              <a:t>YAML       Spaces: 2       UTF-8       Ansible extension: active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1: Foundations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Stand up a control node, define an inventory, and confirm you can reach two managed nodes.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Install Ansible on your control node and run  ansible --version.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Create a hosts file with a [web_servers] group containing two node IPs.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Add a project-local ansible.cfg with  host_key_checking = False.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Set up password-less SSH to both nodes with  ssh-copy-id.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Run  ansible web_servers -m ping  and read the responses.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ansible --version prints a version and your ansible.cfg path.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ansible web_servers -m ping returns "pong" from both nodes.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— Ad-hoc 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One-line commands that run a single module — no playbook required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is an ad-hoc command?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one-liner</a:t>
            </a:r>
            <a:r>
              <a:rPr b="0" i="0" sz="1400">
                <a:solidFill>
                  <a:srgbClr val="312D2A"/>
                </a:solidFill>
              </a:rPr>
              <a:t> that runs one module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Two inputs:</a:t>
            </a:r>
            <a:r>
              <a:rPr b="0" i="0" sz="1400">
                <a:solidFill>
                  <a:srgbClr val="312D2A"/>
                </a:solidFill>
              </a:rPr>
              <a:t> target hosts + module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Great for</a:t>
            </a:r>
            <a:r>
              <a:rPr b="0" i="0" sz="1400">
                <a:solidFill>
                  <a:srgbClr val="312D2A"/>
                </a:solidFill>
              </a:rPr>
              <a:t> reboots, services, copies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Explore</a:t>
            </a:r>
            <a:r>
              <a:rPr b="0" i="0" sz="1400">
                <a:solidFill>
                  <a:srgbClr val="312D2A"/>
                </a:solidFill>
              </a:rPr>
              <a:t> Ansible without a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Anatomy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ansible</a:t>
            </a:r>
            <a:r>
              <a:rPr b="0" i="0" sz="1400">
                <a:solidFill>
                  <a:srgbClr val="312D2A"/>
                </a:solidFill>
              </a:rPr>
              <a:t> — the command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&lt;hosts&gt;</a:t>
            </a:r>
            <a:r>
              <a:rPr b="0" i="0" sz="1400">
                <a:solidFill>
                  <a:srgbClr val="312D2A"/>
                </a:solidFill>
              </a:rPr>
              <a:t> — group / host / list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-m &lt;module&gt;</a:t>
            </a:r>
            <a:r>
              <a:rPr b="0" i="0" sz="1400">
                <a:solidFill>
                  <a:srgbClr val="312D2A"/>
                </a:solidFill>
              </a:rPr>
              <a:t> — what to run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-a "args"</a:t>
            </a:r>
            <a:r>
              <a:rPr b="0" i="0" sz="1400">
                <a:solidFill>
                  <a:srgbClr val="312D2A"/>
                </a:solidFill>
              </a:rPr>
              <a:t> — module arguments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-i &lt;file&gt;</a:t>
            </a:r>
            <a:r>
              <a:rPr b="0" i="0" sz="1400">
                <a:solidFill>
                  <a:srgbClr val="312D2A"/>
                </a:solidFill>
              </a:rPr>
              <a:t> — inventory to use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Ad-hoc Commands — What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quickest way to run one task against hosts, ideal for exploration and one-offs.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5942688"/>
            <a:ext cx="10671048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sz="1200">
                <a:solidFill>
                  <a:srgbClr val="C74634"/>
                </a:solidFill>
              </a:rPr>
              <a:t>Syntax</a:t>
            </a:r>
          </a:p>
          <a:p>
            <a:r>
              <a:rPr b="0" i="0" sz="1200">
                <a:solidFill>
                  <a:srgbClr val="312D2A"/>
                </a:solidFill>
                <a:latin typeface="Consolas"/>
              </a:rPr>
              <a:t>ansible [-i inventory] &lt;server1:server2:group1&gt; -m &lt;module&gt; [-a "arguments"]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ping &amp;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ping confirms connectivity; command runs a plain binary on each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34469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ping — verify Ansible can reach and run on the node: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command (the DEFAULT module) — run a binary, no shell: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command -a "uptime"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-a "df -h"          # -m command is implied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 as root with --become: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command -a "id" --become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28469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command runs WITHOUT a shell — $HOME, pipes |, and redirects &gt; won't work here.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A Live Ad-hoc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 ansible all -m ping and read the SUCCESS / "pong" responses per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3598475"/>
          </a:xfrm>
          <a:prstGeom prst="roundRect">
            <a:avLst>
              <a:gd name="adj" fmla="val 2500"/>
            </a:avLst>
          </a:prstGeom>
          <a:solidFill>
            <a:srgbClr val="20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300000"/>
          </a:xfrm>
          <a:prstGeom prst="roundRect">
            <a:avLst>
              <a:gd name="adj" fmla="val 6000"/>
            </a:avLst>
          </a:prstGeom>
          <a:solidFill>
            <a:srgbClr val="34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565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565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565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476" y="1498000"/>
            <a:ext cx="10671048" cy="27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b="0" i="0" sz="1050">
                <a:solidFill>
                  <a:srgbClr val="989189"/>
                </a:solidFill>
                <a:latin typeface="Consolas"/>
              </a:rPr>
              <a:t>ansadmin@control: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476" y="1820000"/>
            <a:ext cx="10411048" cy="3238475"/>
          </a:xfrm>
          <a:prstGeom prst="rect">
            <a:avLst/>
          </a:prstGeom>
          <a:noFill/>
        </p:spPr>
        <p:txBody>
          <a:bodyPr wrap="square" lIns="40000" rIns="400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100">
                <a:solidFill>
                  <a:srgbClr val="F6F3F0"/>
                </a:solidFill>
                <a:latin typeface="Consolas"/>
              </a:rPr>
              <a:t>ansible all -m 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172.31.93.110 | </a:t>
            </a:r>
            <a:r>
              <a:rPr b="0" i="0" sz="1100">
                <a:solidFill>
                  <a:srgbClr val="8FCB6E"/>
                </a:solidFill>
                <a:latin typeface="Consolas"/>
              </a:rPr>
              <a:t>SUCCESS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"ansible_facts":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    "discovered_interpreter_python": "/usr/bin/python3"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CC3D5"/>
                </a:solidFill>
                <a:latin typeface="Consolas"/>
              </a:rPr>
              <a:t>"changed"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false,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CC3D5"/>
                </a:solidFill>
                <a:latin typeface="Consolas"/>
              </a:rPr>
              <a:t>"ping"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</a:t>
            </a:r>
            <a:r>
              <a:rPr b="0" i="0" sz="1100">
                <a:solidFill>
                  <a:srgbClr val="8FCB6E"/>
                </a:solidFill>
                <a:latin typeface="Consolas"/>
              </a:rPr>
              <a:t>"pong"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172.31.93.120 | </a:t>
            </a:r>
            <a:r>
              <a:rPr b="0" i="0" sz="1100">
                <a:solidFill>
                  <a:srgbClr val="8FCB6E"/>
                </a:solidFill>
                <a:latin typeface="Consolas"/>
              </a:rPr>
              <a:t>SUCCESS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CC3D5"/>
                </a:solidFill>
                <a:latin typeface="Consolas"/>
              </a:rPr>
              <a:t>"changed"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false,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CC3D5"/>
                </a:solidFill>
                <a:latin typeface="Consolas"/>
              </a:rPr>
              <a:t>"ping"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</a:t>
            </a:r>
            <a:r>
              <a:rPr b="0" i="0" sz="1100">
                <a:solidFill>
                  <a:srgbClr val="8FCB6E"/>
                </a:solidFill>
                <a:latin typeface="Consolas"/>
              </a:rPr>
              <a:t>"pong"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172.31.93.132 | </a:t>
            </a:r>
            <a:r>
              <a:rPr b="0" i="0" sz="1100">
                <a:solidFill>
                  <a:srgbClr val="8FCB6E"/>
                </a:solidFill>
                <a:latin typeface="Consolas"/>
              </a:rPr>
              <a:t>SUCCESS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CC3D5"/>
                </a:solidFill>
                <a:latin typeface="Consolas"/>
              </a:rPr>
              <a:t>"ping"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100">
                <a:solidFill>
                  <a:srgbClr val="DAD5CF"/>
                </a:solidFill>
                <a:latin typeface="Consolas"/>
              </a:rPr>
              <a:t> </a:t>
            </a:r>
            <a:r>
              <a:rPr b="0" i="0" sz="1100">
                <a:solidFill>
                  <a:srgbClr val="8FCB6E"/>
                </a:solidFill>
                <a:latin typeface="Consolas"/>
              </a:rPr>
              <a:t>"pong"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command (default)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Runs</a:t>
            </a:r>
            <a:r>
              <a:rPr b="0" i="0" sz="1400">
                <a:solidFill>
                  <a:srgbClr val="312D2A"/>
                </a:solidFill>
              </a:rPr>
              <a:t> a binary directly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shell</a:t>
            </a:r>
            <a:r>
              <a:rPr b="0" i="0" sz="1400">
                <a:solidFill>
                  <a:srgbClr val="312D2A"/>
                </a:solidFill>
              </a:rPr>
              <a:t> features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Secure</a:t>
            </a:r>
            <a:r>
              <a:rPr b="0" i="0" sz="1400">
                <a:solidFill>
                  <a:srgbClr val="312D2A"/>
                </a:solidFill>
              </a:rPr>
              <a:t> — ignores user env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| &lt; &gt; &amp;</a:t>
            </a:r>
            <a:r>
              <a:rPr b="0" i="0" sz="1400">
                <a:solidFill>
                  <a:srgbClr val="312D2A"/>
                </a:solidFill>
              </a:rPr>
              <a:t>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shell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Runs</a:t>
            </a:r>
            <a:r>
              <a:rPr b="0" i="0" sz="1400">
                <a:solidFill>
                  <a:srgbClr val="312D2A"/>
                </a:solidFill>
              </a:rPr>
              <a:t> via /bin/sh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Supports</a:t>
            </a:r>
            <a:r>
              <a:rPr b="0" i="0" sz="1400">
                <a:solidFill>
                  <a:srgbClr val="312D2A"/>
                </a:solidFill>
              </a:rPr>
              <a:t> pipes &amp; redirects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Uses</a:t>
            </a:r>
            <a:r>
              <a:rPr b="0" i="0" sz="1400">
                <a:solidFill>
                  <a:srgbClr val="312D2A"/>
                </a:solidFill>
              </a:rPr>
              <a:t> environment variables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For</a:t>
            </a:r>
            <a:r>
              <a:rPr b="0" i="0" sz="1400">
                <a:solidFill>
                  <a:srgbClr val="312D2A"/>
                </a:solidFill>
              </a:rPr>
              <a:t> richer one-liners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raw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Straight</a:t>
            </a:r>
            <a:r>
              <a:rPr b="0" i="0" sz="1400">
                <a:solidFill>
                  <a:srgbClr val="312D2A"/>
                </a:solidFill>
              </a:rPr>
              <a:t> over SSH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Python</a:t>
            </a:r>
            <a:r>
              <a:rPr b="0" i="0" sz="1400">
                <a:solidFill>
                  <a:srgbClr val="312D2A"/>
                </a:solidFill>
              </a:rPr>
              <a:t> needed on node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Bootstrap</a:t>
            </a:r>
            <a:r>
              <a:rPr b="0" i="0" sz="1400">
                <a:solidFill>
                  <a:srgbClr val="312D2A"/>
                </a:solidFill>
              </a:rPr>
              <a:t> a bare node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Not</a:t>
            </a:r>
            <a:r>
              <a:rPr b="0" i="0" sz="1400">
                <a:solidFill>
                  <a:srgbClr val="312D2A"/>
                </a:solidFill>
              </a:rPr>
              <a:t> idempotent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command vs shell vs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Three modules that run commands — know when to reach for each.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copy: Push a File to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copy transfers a file from the control node to the managed nodes.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549159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Syntax: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 &lt;hosts&gt; -m copy -a "src=&lt;local&gt; dest=&lt;remote&gt;"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Copy a local file to every web server: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copy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-a "src=/etc/hosts dest=/tmp/hosts"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Copy and set ownership + permissions: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copy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-a "src=./app.conf dest=/etc/app.conf owner=root group=root mode=0644"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--become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489159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copy is idempotent — it only transfers when the destination differs from the source.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file: Create Files &amp;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file manages the existence and attributes of files and directories.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Syntax: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 &lt;hosts&gt; -m file -a "path=&lt;path&gt; state=&lt;state&gt;"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Create (touch) a file: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db_servers -m file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-a "path=/home/ansadmin/demo.txt state=touch"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Create a directory: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db_servers -m file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-a "path=/opt/app/logs state=directory mode=0755"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Remove a file or directory: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db_servers -m file -a "path=/tmp/old.txt state=absent"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state can be touch, directory, file, link, hard or absent.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fetch: Pull a File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fetch is the reverse of copy — it brings files from nodes to the controller.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140221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Syntax: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 &lt;hosts&gt; -m fetch -a "src=&lt;remote&gt; dest=&lt;local&gt;"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Download a log from every node to the control node: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db_servers -m fetch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-a "src=/var/log/messages dest=./collected/"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Files land under  ./collected/&lt;hostname&gt;/var/log/messages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keeping each host's copy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080221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fetch namespaces files by hostname, so collections from many nodes never collide.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Installing Packages Ad-hoc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Install, upgrade, remove packages and manage services in one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753628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yum — RedHat family: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yum -a "name=git state=present"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yum -a "name=httpd state=latest"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apt — Debian / Ubuntu family: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apt -a "name=apache2 state=present"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service — start / stop / restart: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service -a "name=httpd state=started"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Remove a package: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yum -a "name=git state=absent" --become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693628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state=present installs if missing; state=latest upgrades; state=absent removes.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ansible-doc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ansible-doc -l</a:t>
            </a:r>
            <a:r>
              <a:rPr b="0" i="0" sz="1400">
                <a:solidFill>
                  <a:srgbClr val="312D2A"/>
                </a:solidFill>
              </a:rPr>
              <a:t> — list all modules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ansible-doc -l | grep yum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ansible-doc copy</a:t>
            </a:r>
            <a:r>
              <a:rPr b="0" i="0" sz="1400">
                <a:solidFill>
                  <a:srgbClr val="312D2A"/>
                </a:solidFill>
              </a:rPr>
              <a:t> — full docs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Shows</a:t>
            </a:r>
            <a:r>
              <a:rPr b="0" i="0" sz="1400">
                <a:solidFill>
                  <a:srgbClr val="312D2A"/>
                </a:solidFill>
              </a:rPr>
              <a:t> every parameter &amp;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Module basics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Small programs</a:t>
            </a:r>
            <a:r>
              <a:rPr b="0" i="0" sz="1400">
                <a:solidFill>
                  <a:srgbClr val="312D2A"/>
                </a:solidFill>
              </a:rPr>
              <a:t> that do work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Reusable</a:t>
            </a:r>
            <a:r>
              <a:rPr b="0" i="0" sz="1400">
                <a:solidFill>
                  <a:srgbClr val="312D2A"/>
                </a:solidFill>
              </a:rPr>
              <a:t> across ad-hoc &amp; plays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Return</a:t>
            </a:r>
            <a:r>
              <a:rPr b="0" i="0" sz="1400">
                <a:solidFill>
                  <a:srgbClr val="312D2A"/>
                </a:solidFill>
              </a:rPr>
              <a:t> structured JSON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Idempotent</a:t>
            </a:r>
            <a:r>
              <a:rPr b="0" i="0" sz="1400">
                <a:solidFill>
                  <a:srgbClr val="312D2A"/>
                </a:solidFill>
              </a:rPr>
              <a:t> where possible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Listing &amp; Discovering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Ansible ships with hundreds of modules — here's how to explore them.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When to use raw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Python</a:t>
            </a:r>
            <a:r>
              <a:rPr b="0" i="0" sz="1400">
                <a:solidFill>
                  <a:srgbClr val="312D2A"/>
                </a:solidFill>
              </a:rPr>
              <a:t> not yet installed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Fresh node</a:t>
            </a:r>
            <a:r>
              <a:rPr b="0" i="0" sz="1400">
                <a:solidFill>
                  <a:srgbClr val="312D2A"/>
                </a:solidFill>
              </a:rPr>
              <a:t> needs bootstrapping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Network gear</a:t>
            </a:r>
            <a:r>
              <a:rPr b="0" i="0" sz="1400">
                <a:solidFill>
                  <a:srgbClr val="312D2A"/>
                </a:solidFill>
              </a:rPr>
              <a:t> with no Python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Runs</a:t>
            </a:r>
            <a:r>
              <a:rPr b="0" i="0" sz="1400">
                <a:solidFill>
                  <a:srgbClr val="312D2A"/>
                </a:solidFill>
              </a:rPr>
              <a:t> straight over SSH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Trade-offs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module</a:t>
            </a:r>
            <a:r>
              <a:rPr b="0" i="0" sz="1400">
                <a:solidFill>
                  <a:srgbClr val="312D2A"/>
                </a:solidFill>
              </a:rPr>
              <a:t> features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Not idempotent</a:t>
            </a:r>
            <a:r>
              <a:rPr b="0" i="0" sz="1400">
                <a:solidFill>
                  <a:srgbClr val="312D2A"/>
                </a:solidFill>
              </a:rPr>
              <a:t> — you own logic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Typical use:</a:t>
            </a:r>
            <a:r>
              <a:rPr b="0" i="0" sz="1400">
                <a:solidFill>
                  <a:srgbClr val="312D2A"/>
                </a:solidFill>
              </a:rPr>
              <a:t> install Python itself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Then switch</a:t>
            </a:r>
            <a:r>
              <a:rPr b="0" i="0" sz="1400">
                <a:solidFill>
                  <a:srgbClr val="312D2A"/>
                </a:solidFill>
              </a:rPr>
              <a:t> to richer 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Working Without Python — 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Most modules need Python on the node; raw works even when it's missing.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raw: Bootstrap a Bare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raw prepares a node so that every other module becomes available.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549159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Install Python on nodes that don't have it yet: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raw -a "yum install -y python3"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On Debian/Ubuntu minimal images: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raw -a "apt-get update &amp;&amp; apt-get install -y python3" --become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A quick check that works without Python on the node: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raw -a "uptime"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Once Python is present, normal modules work: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489159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This is the classic chicken-and-egg fix: raw installs Python, then ping/setup work.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2: Ad-hoc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Use one-line ad-hoc commands to inspect and change your managed nodes.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Show uptime on web_servers with the  command  module.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Copy a local file to /tmp on every node with the  copy  module.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Create a directory on the nodes with the  file  module.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Install git with the package/yum module using  --become.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Fetch /etc/hostname from each node back to the control node.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The file appears in /tmp on every node and git is installed.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Fetched files land under per-host folders on the control node.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— Facts &amp; Inventories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Gathering information about your fleet, and where the host list comes from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are facts?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Auto-collected</a:t>
            </a:r>
            <a:r>
              <a:rPr b="0" i="0" sz="1400">
                <a:solidFill>
                  <a:srgbClr val="312D2A"/>
                </a:solidFill>
              </a:rPr>
              <a:t> node information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OS, IPs, disks,</a:t>
            </a:r>
            <a:r>
              <a:rPr b="0" i="0" sz="1400">
                <a:solidFill>
                  <a:srgbClr val="312D2A"/>
                </a:solidFill>
              </a:rPr>
              <a:t> CPU, Python, more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Gathering Facts</a:t>
            </a:r>
            <a:r>
              <a:rPr b="0" i="0" sz="1400">
                <a:solidFill>
                  <a:srgbClr val="312D2A"/>
                </a:solidFill>
              </a:rPr>
              <a:t> runs by default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Collected</a:t>
            </a:r>
            <a:r>
              <a:rPr b="0" i="0" sz="1400">
                <a:solidFill>
                  <a:srgbClr val="312D2A"/>
                </a:solidFill>
              </a:rPr>
              <a:t> by the setup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Two kinds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Default facts</a:t>
            </a:r>
            <a:r>
              <a:rPr b="0" i="0" sz="1400">
                <a:solidFill>
                  <a:srgbClr val="312D2A"/>
                </a:solidFill>
              </a:rPr>
              <a:t> — built in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Custom facts</a:t>
            </a:r>
            <a:r>
              <a:rPr b="0" i="0" sz="1400">
                <a:solidFill>
                  <a:srgbClr val="312D2A"/>
                </a:solidFill>
              </a:rPr>
              <a:t> — your .fact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Returned</a:t>
            </a:r>
            <a:r>
              <a:rPr b="0" i="0" sz="1400">
                <a:solidFill>
                  <a:srgbClr val="312D2A"/>
                </a:solidFill>
              </a:rPr>
              <a:t> as dict / list / text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Used</a:t>
            </a:r>
            <a:r>
              <a:rPr b="0" i="0" sz="1400">
                <a:solidFill>
                  <a:srgbClr val="312D2A"/>
                </a:solidFill>
              </a:rPr>
              <a:t> as {{ ansible_* }} vars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Ansible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Facts are information Ansible discovers about each node before running tasks.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The setup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setup is the module that gathers facts; filter narrows the (large)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Gather and print every fact for a group: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setup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Filter to a family of facts: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web_servers -m setup -a "filter=ansible_distribution*"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A few commonly used facts: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ansible_os_family        -&gt; RedHat / Debian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ansible_distribution     -&gt; CentOS / Ubuntu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ansible_system           -&gt; Linux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ansible_hostname         -&gt; short hostname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ansible_default_ipv4.address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ansible_mounts           -&gt; list of mount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Playbooks call setup automatically unless you set gather_facts: false.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Gathered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 the setup module and filter to ansible_distribution* on web_servers.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3506400"/>
          </a:xfrm>
          <a:prstGeom prst="roundRect">
            <a:avLst>
              <a:gd name="adj" fmla="val 2500"/>
            </a:avLst>
          </a:prstGeom>
          <a:solidFill>
            <a:srgbClr val="20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300000"/>
          </a:xfrm>
          <a:prstGeom prst="roundRect">
            <a:avLst>
              <a:gd name="adj" fmla="val 6000"/>
            </a:avLst>
          </a:prstGeom>
          <a:solidFill>
            <a:srgbClr val="34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565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565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565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476" y="1498000"/>
            <a:ext cx="10671048" cy="27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b="0" i="0" sz="1050">
                <a:solidFill>
                  <a:srgbClr val="989189"/>
                </a:solidFill>
                <a:latin typeface="Consolas"/>
              </a:rPr>
              <a:t>ansadmin@control: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476" y="1820000"/>
            <a:ext cx="10411048" cy="3146400"/>
          </a:xfrm>
          <a:prstGeom prst="rect">
            <a:avLst/>
          </a:prstGeom>
          <a:noFill/>
        </p:spPr>
        <p:txBody>
          <a:bodyPr wrap="square" lIns="40000" rIns="400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000">
                <a:solidFill>
                  <a:srgbClr val="F6F3F0"/>
                </a:solidFill>
                <a:latin typeface="Consolas"/>
              </a:rPr>
              <a:t>ansible web_servers -m setup -a "filter=ansible_distribution*"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172.31.93.110 | </a:t>
            </a:r>
            <a:r>
              <a:rPr b="0" i="0" sz="1000">
                <a:solidFill>
                  <a:srgbClr val="8FCB6E"/>
                </a:solidFill>
                <a:latin typeface="Consolas"/>
              </a:rPr>
              <a:t>SUCCESS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"ansible_facts":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"ansible_distribution"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"CentOS",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"ansible_distribution_file_variety"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"RedHat",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"ansible_distribution_major_version"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"8",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"ansible_distribution_version"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"8.5"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"changed"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172.31.93.120 | </a:t>
            </a:r>
            <a:r>
              <a:rPr b="0" i="0" sz="1000">
                <a:solidFill>
                  <a:srgbClr val="8FCB6E"/>
                </a:solidFill>
                <a:latin typeface="Consolas"/>
              </a:rPr>
              <a:t>SUCCESS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"ansible_facts":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"ansible_distribution"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"Ubuntu",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9CC3D5"/>
                </a:solidFill>
                <a:latin typeface="Consolas"/>
              </a:rPr>
              <a:t>"ansible_distribution_version"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"22.04"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Using Facts in a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With facts gathered, every node attribute is available as a variable.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34469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"OS distribution : {{ ansible_distribution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"OS name         : {{ ansible_system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"OS family       : {{ ansible_os_family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"Hostname        : {{ ansible_hostname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"Mount points    : {{ ansible_mounts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28469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Facts make playbooks portable — the same play adapts to RedHat and Debian hosts.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Discovery Without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When you skip fact gathering, collect just what you need with shell + register.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775973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Find OS info using shell commands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Find OS distribution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"cat /etc/os-release | awk -F= 'NR==1 {print $2}'"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os_dist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Find OS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"uname"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os_name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"Distribution : {{ os_dist.stdout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"OS name      : {{ os_name.stdout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15973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gather_facts: false speeds plays up when the full fact set isn't required.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custom facts?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Find</a:t>
            </a:r>
            <a:r>
              <a:rPr b="0" i="0" sz="1400">
                <a:solidFill>
                  <a:srgbClr val="312D2A"/>
                </a:solidFill>
              </a:rPr>
              <a:t> git / httpd / DB versions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Tag</a:t>
            </a:r>
            <a:r>
              <a:rPr b="0" i="0" sz="1400">
                <a:solidFill>
                  <a:srgbClr val="312D2A"/>
                </a:solidFill>
              </a:rPr>
              <a:t> prod / qa / dev nodes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Expose</a:t>
            </a:r>
            <a:r>
              <a:rPr b="0" i="0" sz="1400">
                <a:solidFill>
                  <a:srgbClr val="312D2A"/>
                </a:solidFill>
              </a:rPr>
              <a:t> any site-specific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Per-host</a:t>
            </a:r>
            <a:r>
              <a:rPr b="0" i="0" sz="1400">
                <a:solidFill>
                  <a:srgbClr val="312D2A"/>
                </a:solidFill>
              </a:rPr>
              <a:t> values supported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How they surface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Gathered</a:t>
            </a:r>
            <a:r>
              <a:rPr b="0" i="0" sz="1400">
                <a:solidFill>
                  <a:srgbClr val="312D2A"/>
                </a:solidFill>
              </a:rPr>
              <a:t> with the default facts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Found under</a:t>
            </a:r>
            <a:r>
              <a:rPr b="0" i="0" sz="1400">
                <a:solidFill>
                  <a:srgbClr val="312D2A"/>
                </a:solidFill>
              </a:rPr>
              <a:t> ansible_local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Used as</a:t>
            </a:r>
            <a:r>
              <a:rPr b="0" i="0" sz="1400">
                <a:solidFill>
                  <a:srgbClr val="312D2A"/>
                </a:solidFill>
              </a:rPr>
              <a:t> {{ ansible_local.&lt;name&gt;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 code</a:t>
            </a:r>
            <a:r>
              <a:rPr b="0" i="0" sz="1400">
                <a:solidFill>
                  <a:srgbClr val="312D2A"/>
                </a:solidFill>
              </a:rPr>
              <a:t> change to read them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Custom Facts —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Teach Ansible to fetch your own facts: a service version, an environment tag.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Place the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1.</a:t>
            </a:r>
            <a:r>
              <a:rPr b="0" i="0" sz="1400">
                <a:solidFill>
                  <a:srgbClr val="312D2A"/>
                </a:solidFill>
              </a:rPr>
              <a:t> mkdir /etc/ansible/facts.d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2.</a:t>
            </a:r>
            <a:r>
              <a:rPr b="0" i="0" sz="1400">
                <a:solidFill>
                  <a:srgbClr val="312D2A"/>
                </a:solidFill>
              </a:rPr>
              <a:t> add a *.fact file there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Per node</a:t>
            </a:r>
            <a:r>
              <a:rPr b="0" i="0" sz="1400">
                <a:solidFill>
                  <a:srgbClr val="312D2A"/>
                </a:solidFill>
              </a:rPr>
              <a:t> you want it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Make them valid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3.</a:t>
            </a:r>
            <a:r>
              <a:rPr b="0" i="0" sz="1400">
                <a:solidFill>
                  <a:srgbClr val="312D2A"/>
                </a:solidFill>
              </a:rPr>
              <a:t> output must be JSON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Static</a:t>
            </a:r>
            <a:r>
              <a:rPr b="0" i="0" sz="1400">
                <a:solidFill>
                  <a:srgbClr val="312D2A"/>
                </a:solidFill>
              </a:rPr>
              <a:t> .ini-style also works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4.</a:t>
            </a:r>
            <a:r>
              <a:rPr b="0" i="0" sz="1400">
                <a:solidFill>
                  <a:srgbClr val="312D2A"/>
                </a:solidFill>
              </a:rPr>
              <a:t> chmod +x the 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Read them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Exposed</a:t>
            </a:r>
            <a:r>
              <a:rPr b="0" i="0" sz="1400">
                <a:solidFill>
                  <a:srgbClr val="312D2A"/>
                </a:solidFill>
              </a:rPr>
              <a:t> under ansible_local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Key</a:t>
            </a:r>
            <a:r>
              <a:rPr b="0" i="0" sz="1400">
                <a:solidFill>
                  <a:srgbClr val="312D2A"/>
                </a:solidFill>
              </a:rPr>
              <a:t> = file name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</a:t>
            </a:r>
            <a:r>
              <a:rPr b="0" i="0" sz="1400">
                <a:solidFill>
                  <a:srgbClr val="312D2A"/>
                </a:solidFill>
              </a:rPr>
              <a:t> in tasks &amp; templates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Custom Facts — Steps to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Four steps on each managed node, then Ansible picks them up automatically.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A Custom Fact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An executable that prints JSON becomes a fact under ansible_local.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On the node: /etc/ansible/facts.d/git_version.fact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#!/bin/bash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echo "{\"version\": \"$(git --version | awk '{print $3}')\"}"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Make it executable: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chmod +x /etc/ansible/facts.d/git_version.fact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Now read it from the control node: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all -m setup -a "filter=ansible_local"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Or inside a playbook: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debug: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  msg: "git is {{ ansible_local.git_version.version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Custom facts are perfect for capturing installed-software versions across a fleet.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Static inventory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Plain file</a:t>
            </a:r>
            <a:r>
              <a:rPr b="0" i="0" sz="1400">
                <a:solidFill>
                  <a:srgbClr val="312D2A"/>
                </a:solidFill>
              </a:rPr>
              <a:t> of hosts &amp; groups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INI or YAML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Best for</a:t>
            </a:r>
            <a:r>
              <a:rPr b="0" i="0" sz="1400">
                <a:solidFill>
                  <a:srgbClr val="312D2A"/>
                </a:solidFill>
              </a:rPr>
              <a:t> stable fleets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Simple</a:t>
            </a:r>
            <a:r>
              <a:rPr b="0" i="0" sz="1400">
                <a:solidFill>
                  <a:srgbClr val="312D2A"/>
                </a:solidFill>
              </a:rPr>
              <a:t> to read &amp;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Dynamic inventory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script</a:t>
            </a:r>
            <a:r>
              <a:rPr b="0" i="0" sz="1400">
                <a:solidFill>
                  <a:srgbClr val="312D2A"/>
                </a:solidFill>
              </a:rPr>
              <a:t> returning JSON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For cloud</a:t>
            </a:r>
            <a:r>
              <a:rPr b="0" i="0" sz="1400">
                <a:solidFill>
                  <a:srgbClr val="312D2A"/>
                </a:solidFill>
              </a:rPr>
              <a:t> / elastic fleets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AWS, GCE,</a:t>
            </a:r>
            <a:r>
              <a:rPr b="0" i="0" sz="1400">
                <a:solidFill>
                  <a:srgbClr val="312D2A"/>
                </a:solidFill>
              </a:rPr>
              <a:t> OpenStack, etc.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Reflects</a:t>
            </a:r>
            <a:r>
              <a:rPr b="0" i="0" sz="1400">
                <a:solidFill>
                  <a:srgbClr val="312D2A"/>
                </a:solidFill>
              </a:rPr>
              <a:t> live infrastructure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Static &amp; Dynamic Inventories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Fixed host lists, or inventories generated on demand for changing environments.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Built-in options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AWS EC2</a:t>
            </a:r>
            <a:r>
              <a:rPr b="0" i="0" sz="1400">
                <a:solidFill>
                  <a:srgbClr val="312D2A"/>
                </a:solidFill>
              </a:rPr>
              <a:t> inventory plugin/script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ec2.py + ec2.ini</a:t>
            </a:r>
            <a:r>
              <a:rPr b="0" i="0" sz="1400">
                <a:solidFill>
                  <a:srgbClr val="312D2A"/>
                </a:solidFill>
              </a:rPr>
              <a:t> (classic)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OpenStack,</a:t>
            </a:r>
            <a:r>
              <a:rPr b="0" i="0" sz="1400">
                <a:solidFill>
                  <a:srgbClr val="312D2A"/>
                </a:solidFill>
              </a:rPr>
              <a:t> GCE, Spacewalk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Store creds</a:t>
            </a:r>
            <a:r>
              <a:rPr b="0" i="0" sz="1400">
                <a:solidFill>
                  <a:srgbClr val="312D2A"/>
                </a:solidFill>
              </a:rPr>
              <a:t> or attach an IAM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Custom scripts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Any language</a:t>
            </a:r>
            <a:r>
              <a:rPr b="0" i="0" sz="1400">
                <a:solidFill>
                  <a:srgbClr val="312D2A"/>
                </a:solidFill>
              </a:rPr>
              <a:t> — shell / python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Output</a:t>
            </a:r>
            <a:r>
              <a:rPr b="0" i="0" sz="1400">
                <a:solidFill>
                  <a:srgbClr val="312D2A"/>
                </a:solidFill>
              </a:rPr>
              <a:t> JSON groups &amp; hosts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Filter</a:t>
            </a:r>
            <a:r>
              <a:rPr b="0" i="0" sz="1400">
                <a:solidFill>
                  <a:srgbClr val="312D2A"/>
                </a:solidFill>
              </a:rPr>
              <a:t> by tags / naming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chmod +x</a:t>
            </a:r>
            <a:r>
              <a:rPr b="0" i="0" sz="1400">
                <a:solidFill>
                  <a:srgbClr val="312D2A"/>
                </a:solidFill>
              </a:rPr>
              <a:t> then use with -i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Dynamic Inventory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 dynamic inventory is just a program whose stdout is JSON in Ansible's shape.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A Minimal Custom Dynamic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Return groups, their hosts, and vars as JSON — that's the whole contract.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571504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#!/usr/bin/env python3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my_inventory.py  —  prints JSON Ansible understands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import json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inventory =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"web_servers":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"hosts": ["172.31.93.110", "172.31.93.120"],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"vars":  {"ansible_user": "ansadmin"}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"db_servers": {"hosts": ["172.31.93.132"]}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print(json.dumps(inventory))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Make it executable and use it as an inventory: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chmod +x my_inventory.py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ansible all -i ./my_inventory.py -m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511504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Swap the hard-coded data for a cloud API call and you have a live dynamic inventory.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AWS EC2 Dynamic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With credentials in place, Ansible can target live EC2 instances by tag.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Install the AWS libraries Ansible uses to query EC2: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pip install boto boto3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sudo pip install awscli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aws configure        </a:t>
            </a:r>
            <a:r>
              <a:rPr b="0" i="0" sz="1150">
                <a:solidFill>
                  <a:srgbClr val="9FB49A"/>
                </a:solidFill>
                <a:latin typeface="Consolas"/>
              </a:rPr>
              <a:t># store Access key / Secret /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Classic scripts (download from the Ansible repo):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ec2.py   — the inventory 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  ec2.ini  — its configuration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chmod +x ec2.py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Use live EC2 instances as the inventory: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-i ec2.py all -m 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 -i ec2.py tag_Environment_prod -m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Tags become groups — tag_Environment_prod targets every instance tagged that way.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3: Facts &amp; Inventories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Gather facts, build a custom fact, and drive Ansible from a dynamic inventory.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Run the setup module and filter for  ansible_distribution*.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Write a playbook that prints OS family, distribution and mounts.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Add a custom .fact file reporting a tool version; read it via ansible_local.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Write a script that prints JSON inventory and use it with  -i.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Your playbook prints each node's OS details from facts.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ansible_local shows your custom fact; -i &lt;script&gt; targets the right hosts.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 — Playbooks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YAML files that orchestrate many ordered tasks across your fleet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Three concepts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Task</a:t>
            </a:r>
            <a:r>
              <a:rPr b="0" i="0" sz="1400">
                <a:solidFill>
                  <a:srgbClr val="312D2A"/>
                </a:solidFill>
              </a:rPr>
              <a:t> — one unit (install httpd)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Play</a:t>
            </a:r>
            <a:r>
              <a:rPr b="0" i="0" sz="1400">
                <a:solidFill>
                  <a:srgbClr val="312D2A"/>
                </a:solidFill>
              </a:rPr>
              <a:t> — tasks + their target hosts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Playbook</a:t>
            </a:r>
            <a:r>
              <a:rPr b="0" i="0" sz="1400">
                <a:solidFill>
                  <a:srgbClr val="312D2A"/>
                </a:solidFill>
              </a:rPr>
              <a:t> — a list of one or more plays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Plus</a:t>
            </a:r>
            <a:r>
              <a:rPr b="0" i="0" sz="1400">
                <a:solidFill>
                  <a:srgbClr val="312D2A"/>
                </a:solidFill>
              </a:rPr>
              <a:t> variables, files,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playbooks?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Multiple</a:t>
            </a:r>
            <a:r>
              <a:rPr b="0" i="0" sz="1400">
                <a:solidFill>
                  <a:srgbClr val="312D2A"/>
                </a:solidFill>
              </a:rPr>
              <a:t> tasks in order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Repeatable</a:t>
            </a:r>
            <a:r>
              <a:rPr b="0" i="0" sz="1400">
                <a:solidFill>
                  <a:srgbClr val="312D2A"/>
                </a:solidFill>
              </a:rPr>
              <a:t> &amp; version-controlled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Readable</a:t>
            </a:r>
            <a:r>
              <a:rPr b="0" i="0" sz="1400">
                <a:solidFill>
                  <a:srgbClr val="312D2A"/>
                </a:solidFill>
              </a:rPr>
              <a:t> YAML, short code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Config,</a:t>
            </a:r>
            <a:r>
              <a:rPr b="0" i="0" sz="1400">
                <a:solidFill>
                  <a:srgbClr val="312D2A"/>
                </a:solidFill>
              </a:rPr>
              <a:t> deploy &amp; orchestrate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Playbook — Task, Play,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When ad-hoc isn't enough, a playbook runs many ordered tasks written in YAML.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Syntax rules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Starts with</a:t>
            </a:r>
            <a:r>
              <a:rPr b="0" i="0" sz="1400">
                <a:solidFill>
                  <a:srgbClr val="312D2A"/>
                </a:solidFill>
              </a:rPr>
              <a:t> ---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Indentation</a:t>
            </a:r>
            <a:r>
              <a:rPr b="0" i="0" sz="1400">
                <a:solidFill>
                  <a:srgbClr val="312D2A"/>
                </a:solidFill>
              </a:rPr>
              <a:t> with spaces, never tabs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key: value</a:t>
            </a:r>
            <a:r>
              <a:rPr b="0" i="0" sz="1400">
                <a:solidFill>
                  <a:srgbClr val="312D2A"/>
                </a:solidFill>
              </a:rPr>
              <a:t> pairs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 item</a:t>
            </a:r>
            <a:r>
              <a:rPr b="0" i="0" sz="1400">
                <a:solidFill>
                  <a:srgbClr val="312D2A"/>
                </a:solidFill>
              </a:rPr>
              <a:t> for list elements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# ...</a:t>
            </a:r>
            <a:r>
              <a:rPr b="0" i="0" sz="1400">
                <a:solidFill>
                  <a:srgbClr val="312D2A"/>
                </a:solidFill>
              </a:rPr>
              <a:t> for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Data shapes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Scalar</a:t>
            </a:r>
            <a:r>
              <a:rPr b="0" i="0" sz="1400">
                <a:solidFill>
                  <a:srgbClr val="312D2A"/>
                </a:solidFill>
              </a:rPr>
              <a:t> — a single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List</a:t>
            </a:r>
            <a:r>
              <a:rPr b="0" i="0" sz="1400">
                <a:solidFill>
                  <a:srgbClr val="312D2A"/>
                </a:solidFill>
              </a:rPr>
              <a:t> — sequence with -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Dict</a:t>
            </a:r>
            <a:r>
              <a:rPr b="0" i="0" sz="1400">
                <a:solidFill>
                  <a:srgbClr val="312D2A"/>
                </a:solidFill>
              </a:rPr>
              <a:t> — map of key: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Consistent</a:t>
            </a:r>
            <a:r>
              <a:rPr b="0" i="0" sz="1400">
                <a:solidFill>
                  <a:srgbClr val="312D2A"/>
                </a:solidFill>
              </a:rPr>
              <a:t> indentation is key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YAML — The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Playbooks are YAML; a few rules prevent most beginner errors.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Your First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 play targets a group, runs ordered, named tasks, and prints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571504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Print a message and capture 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Say hello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"Running on {{ inventory_hostname }} ({{ ansible_os_family }})"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Capture 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"uptime"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up_time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Show the captured value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var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up_time.stdout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511504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Always name tasks — named output is far easier to read and debug.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A Live Playbook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 ansible-playbook with -v and walk through the TASK output and the PLAY RECAP.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3506400"/>
          </a:xfrm>
          <a:prstGeom prst="roundRect">
            <a:avLst>
              <a:gd name="adj" fmla="val 2500"/>
            </a:avLst>
          </a:prstGeom>
          <a:solidFill>
            <a:srgbClr val="20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300000"/>
          </a:xfrm>
          <a:prstGeom prst="roundRect">
            <a:avLst>
              <a:gd name="adj" fmla="val 6000"/>
            </a:avLst>
          </a:prstGeom>
          <a:solidFill>
            <a:srgbClr val="34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565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565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565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476" y="1498000"/>
            <a:ext cx="10671048" cy="27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b="0" i="0" sz="1050">
                <a:solidFill>
                  <a:srgbClr val="989189"/>
                </a:solidFill>
                <a:latin typeface="Consolas"/>
              </a:rPr>
              <a:t>ansadmin@control: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476" y="1820000"/>
            <a:ext cx="10411048" cy="3146400"/>
          </a:xfrm>
          <a:prstGeom prst="rect">
            <a:avLst/>
          </a:prstGeom>
          <a:noFill/>
        </p:spPr>
        <p:txBody>
          <a:bodyPr wrap="square" lIns="40000" rIns="400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0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000">
                <a:solidFill>
                  <a:srgbClr val="F6F3F0"/>
                </a:solidFill>
                <a:latin typeface="Consolas"/>
              </a:rPr>
              <a:t>ansible-playbook first.yml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CC3D5"/>
                </a:solidFill>
                <a:latin typeface="Consolas"/>
              </a:rPr>
              <a:t>PLAY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[Print a message and capture uptime] ***************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CC3D5"/>
                </a:solidFill>
                <a:latin typeface="Consolas"/>
              </a:rPr>
              <a:t>TASK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[Gathering Facts] *********************************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8FCB6E"/>
                </a:solidFill>
                <a:latin typeface="Consolas"/>
              </a:rPr>
              <a:t>ok: [172.31.93.110]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CC3D5"/>
                </a:solidFill>
                <a:latin typeface="Consolas"/>
              </a:rPr>
              <a:t>TASK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[Say hello] **************************************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8FCB6E"/>
                </a:solidFill>
                <a:latin typeface="Consolas"/>
              </a:rPr>
              <a:t>ok: [172.31.93.110] =&gt;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8FCB6E"/>
                </a:solidFill>
                <a:latin typeface="Consolas"/>
              </a:rPr>
              <a:t>    "msg": "Running on 172.31.93.110 (RedHat)"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CC3D5"/>
                </a:solidFill>
                <a:latin typeface="Consolas"/>
              </a:rPr>
              <a:t>TASK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[Capture uptime] *********************************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F0C06A"/>
                </a:solidFill>
                <a:latin typeface="Consolas"/>
              </a:rPr>
              <a:t>changed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: [172.31.93.110]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9CC3D5"/>
                </a:solidFill>
                <a:latin typeface="Consolas"/>
              </a:rPr>
              <a:t>PLAY RECAP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********************************************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DAD5CF"/>
                </a:solidFill>
                <a:latin typeface="Consolas"/>
              </a:rPr>
              <a:t>172.31.93.110  : </a:t>
            </a:r>
            <a:r>
              <a:rPr b="0" i="0" sz="1000">
                <a:solidFill>
                  <a:srgbClr val="8FCB6E"/>
                </a:solidFill>
                <a:latin typeface="Consolas"/>
              </a:rPr>
              <a:t>ok=4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 </a:t>
            </a:r>
            <a:r>
              <a:rPr b="0" i="0" sz="1000">
                <a:solidFill>
                  <a:srgbClr val="F0C06A"/>
                </a:solidFill>
                <a:latin typeface="Consolas"/>
              </a:rPr>
              <a:t>changed=1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 </a:t>
            </a:r>
            <a:r>
              <a:rPr b="0" i="0" sz="1000">
                <a:solidFill>
                  <a:srgbClr val="8FCB6E"/>
                </a:solidFill>
                <a:latin typeface="Consolas"/>
              </a:rPr>
              <a:t>unreachable=0</a:t>
            </a:r>
            <a:r>
              <a:rPr b="0" i="0" sz="1000">
                <a:solidFill>
                  <a:srgbClr val="DAD5CF"/>
                </a:solidFill>
                <a:latin typeface="Consolas"/>
              </a:rPr>
              <a:t>  </a:t>
            </a:r>
            <a:r>
              <a:rPr b="0" i="0" sz="1000">
                <a:solidFill>
                  <a:srgbClr val="8FCB6E"/>
                </a:solidFill>
                <a:latin typeface="Consolas"/>
              </a:rPr>
              <a:t>failed=0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Run modes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Run:</a:t>
            </a:r>
            <a:r>
              <a:rPr b="0" i="0" sz="1400">
                <a:solidFill>
                  <a:srgbClr val="312D2A"/>
                </a:solidFill>
              </a:rPr>
              <a:t> ansible-playbook site.yml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Syntax:</a:t>
            </a:r>
            <a:r>
              <a:rPr b="0" i="0" sz="1400">
                <a:solidFill>
                  <a:srgbClr val="312D2A"/>
                </a:solidFill>
              </a:rPr>
              <a:t> --syntax-check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Dry run:</a:t>
            </a:r>
            <a:r>
              <a:rPr b="0" i="0" sz="1400">
                <a:solidFill>
                  <a:srgbClr val="312D2A"/>
                </a:solidFill>
              </a:rPr>
              <a:t> --check (no changes)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Verbose:</a:t>
            </a:r>
            <a:r>
              <a:rPr b="0" i="0" sz="1400">
                <a:solidFill>
                  <a:srgbClr val="312D2A"/>
                </a:solidFill>
              </a:rPr>
              <a:t> -v / -vv / -vvv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Useful flags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--limit host</a:t>
            </a:r>
            <a:r>
              <a:rPr b="0" i="0" sz="1400">
                <a:solidFill>
                  <a:srgbClr val="312D2A"/>
                </a:solidFill>
              </a:rPr>
              <a:t> — a subset of hosts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--tags / --skip-tags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-e "k=v"</a:t>
            </a:r>
            <a:r>
              <a:rPr b="0" i="0" sz="1400">
                <a:solidFill>
                  <a:srgbClr val="312D2A"/>
                </a:solidFill>
              </a:rPr>
              <a:t> — extra variables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--list-tasks</a:t>
            </a:r>
            <a:r>
              <a:rPr b="0" i="0" sz="1400">
                <a:solidFill>
                  <a:srgbClr val="312D2A"/>
                </a:solidFill>
              </a:rPr>
              <a:t> — preview the plan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Running Playbooks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Verify before you run, then run with the right level of detail.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Verify, Dry-run, Then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The safe sequence: syntax-check, then --check, then a real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549159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1. Check the YAML/Ansible syntax (no execution):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site.yml --syntax-check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2. Dry run — shows what WOULD change, changes nothing: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site.yml --check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3. Preview the task list: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site.yml --list-tasks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4. Run for real, with detail and on one host: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site.yml -v --limit 172.31.93.110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489159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--check is your seatbelt — dry-run risky plays before touching production.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Three parameters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msg</a:t>
            </a:r>
            <a:r>
              <a:rPr b="0" i="0" sz="1400">
                <a:solidFill>
                  <a:srgbClr val="312D2A"/>
                </a:solidFill>
              </a:rPr>
              <a:t> — a message (string or list)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var</a:t>
            </a:r>
            <a:r>
              <a:rPr b="0" i="0" sz="1400">
                <a:solidFill>
                  <a:srgbClr val="312D2A"/>
                </a:solidFill>
              </a:rPr>
              <a:t> — print a variable's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verbosity</a:t>
            </a:r>
            <a:r>
              <a:rPr b="0" i="0" sz="1400">
                <a:solidFill>
                  <a:srgbClr val="312D2A"/>
                </a:solidFill>
              </a:rPr>
              <a:t> — only at -v level 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Invaluable</a:t>
            </a:r>
            <a:r>
              <a:rPr b="0" i="0" sz="1400">
                <a:solidFill>
                  <a:srgbClr val="312D2A"/>
                </a:solidFill>
              </a:rPr>
              <a:t> for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Common uses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Inspect</a:t>
            </a:r>
            <a:r>
              <a:rPr b="0" i="0" sz="1400">
                <a:solidFill>
                  <a:srgbClr val="312D2A"/>
                </a:solidFill>
              </a:rPr>
              <a:t> a registered result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Confirm</a:t>
            </a:r>
            <a:r>
              <a:rPr b="0" i="0" sz="1400">
                <a:solidFill>
                  <a:srgbClr val="312D2A"/>
                </a:solidFill>
              </a:rPr>
              <a:t> a variable's value/type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Trace</a:t>
            </a:r>
            <a:r>
              <a:rPr b="0" i="0" sz="1400">
                <a:solidFill>
                  <a:srgbClr val="312D2A"/>
                </a:solidFill>
              </a:rPr>
              <a:t> conditional logic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Print</a:t>
            </a:r>
            <a:r>
              <a:rPr b="0" i="0" sz="1400">
                <a:solidFill>
                  <a:srgbClr val="312D2A"/>
                </a:solidFill>
              </a:rPr>
              <a:t> gathered facts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The debug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Print messages, variables and expressions during a run.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debug: msg vs 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Use msg for composed text and var to dump a value as-is.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980442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env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production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Print a composed message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"Deploying to {{ env }} on {{ inventory_hostname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Print a variable directly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var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Only show at -vv and above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"Extra detail"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verbosity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920442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verbosity hides noisy debug output until you actually ask for it with -vv.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Custom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key: value</a:t>
            </a:r>
            <a:r>
              <a:rPr b="0" i="0" sz="1400">
                <a:solidFill>
                  <a:srgbClr val="312D2A"/>
                </a:solidFill>
              </a:rPr>
              <a:t> pairs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</a:t>
            </a:r>
            <a:r>
              <a:rPr b="0" i="0" sz="1400">
                <a:solidFill>
                  <a:srgbClr val="312D2A"/>
                </a:solidFill>
              </a:rPr>
              <a:t> vars: or vars_files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</a:t>
            </a:r>
            <a:r>
              <a:rPr b="0" i="0" sz="1400">
                <a:solidFill>
                  <a:srgbClr val="312D2A"/>
                </a:solidFill>
              </a:rPr>
              <a:t> {{ var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Override</a:t>
            </a:r>
            <a:r>
              <a:rPr b="0" i="0" sz="1400">
                <a:solidFill>
                  <a:srgbClr val="312D2A"/>
                </a:solidFill>
              </a:rPr>
              <a:t> with -e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Inventory &amp; default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Host vars</a:t>
            </a:r>
            <a:r>
              <a:rPr b="0" i="0" sz="1400">
                <a:solidFill>
                  <a:srgbClr val="312D2A"/>
                </a:solidFill>
              </a:rPr>
              <a:t> &amp; group vars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inventory_hostname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groups</a:t>
            </a:r>
            <a:r>
              <a:rPr b="0" i="0" sz="1400">
                <a:solidFill>
                  <a:srgbClr val="312D2A"/>
                </a:solidFill>
              </a:rPr>
              <a:t> / groups.keys()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hostvars</a:t>
            </a:r>
            <a:r>
              <a:rPr b="0" i="0" sz="1400">
                <a:solidFill>
                  <a:srgbClr val="312D2A"/>
                </a:solidFill>
              </a:rPr>
              <a:t> across hosts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Facts &amp; registered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Facts</a:t>
            </a:r>
            <a:r>
              <a:rPr b="0" i="0" sz="1400">
                <a:solidFill>
                  <a:srgbClr val="312D2A"/>
                </a:solidFill>
              </a:rPr>
              <a:t> — node info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Local facts</a:t>
            </a:r>
            <a:r>
              <a:rPr b="0" i="0" sz="1400">
                <a:solidFill>
                  <a:srgbClr val="312D2A"/>
                </a:solidFill>
              </a:rPr>
              <a:t> — .fact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Registered</a:t>
            </a:r>
            <a:r>
              <a:rPr b="0" i="0" sz="1400">
                <a:solidFill>
                  <a:srgbClr val="312D2A"/>
                </a:solidFill>
              </a:rPr>
              <a:t> — task output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set_fact</a:t>
            </a:r>
            <a:r>
              <a:rPr b="0" i="0" sz="1400">
                <a:solidFill>
                  <a:srgbClr val="312D2A"/>
                </a:solidFill>
              </a:rPr>
              <a:t> — runtime vars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Ansible Variables —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Variables store values; names start with a letter (letters, numbers, underscores).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Variables &amp;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The type_debug filter reveals how Ansible typed each value: int, float, str, bool.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367035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x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23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my_num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45.67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my_name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Grace Hopper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my_b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"x is {{ x }} (type: {{ x | type_debug }})"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"my_num is {{ my_num }} (type: {{ my_num | type_debug }})"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"my_name is {{ my_name }} (type: {{ my_name | type_debug }})"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"my_b is {{ my_b }} (type: {{ my_b | type_debug }})"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307035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YES/yes/true become booleans — quote them as "YES" if you need the literal text.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Scalar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single</a:t>
            </a:r>
            <a:r>
              <a:rPr b="0" i="0" sz="1400">
                <a:solidFill>
                  <a:srgbClr val="312D2A"/>
                </a:solidFill>
              </a:rPr>
              <a:t>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x: 23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name: app01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Numbers,</a:t>
            </a:r>
            <a:r>
              <a:rPr b="0" i="0" sz="1400">
                <a:solidFill>
                  <a:srgbClr val="312D2A"/>
                </a:solidFill>
              </a:rPr>
              <a:t> strings, bools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Sequence (list)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Ordered</a:t>
            </a:r>
            <a:r>
              <a:rPr b="0" i="0" sz="1400">
                <a:solidFill>
                  <a:srgbClr val="312D2A"/>
                </a:solidFill>
              </a:rPr>
              <a:t> values with -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pkgs: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  - httpd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  - git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Map (dict)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Key/value</a:t>
            </a:r>
            <a:r>
              <a:rPr b="0" i="0" sz="1400">
                <a:solidFill>
                  <a:srgbClr val="312D2A"/>
                </a:solidFill>
              </a:rPr>
              <a:t> pairs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user: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  name: app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  uid: 1001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Three ways to store values — the backbone of every playbook.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Reading Variables From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Keep configuration in YAML (or JSON) files and load them with vars_files.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367035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vars/app.yml  (a separate variable file)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/>
            </a:r>
            <a:r>
              <a:rPr b="0" i="0" sz="1150">
                <a:solidFill>
                  <a:srgbClr val="9CC3D5"/>
                </a:solidFill>
                <a:latin typeface="Consolas"/>
              </a:rPr>
              <a:t>app_name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payments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/>
            </a:r>
            <a:r>
              <a:rPr b="0" i="0" sz="1150">
                <a:solidFill>
                  <a:srgbClr val="9CC3D5"/>
                </a:solidFill>
                <a:latin typeface="Consolas"/>
              </a:rPr>
              <a:t>app_port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8080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/>
            </a:r>
            <a:r>
              <a:rPr b="0" i="0" sz="1150">
                <a:solidFill>
                  <a:srgbClr val="9CC3D5"/>
                </a:solidFill>
                <a:latin typeface="Consolas"/>
              </a:rPr>
              <a:t>admins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 alice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- bob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Load it into the play with vars_files: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app_servers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vars_files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- vars/app.yml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"{{ app_name }} listens on {{ app_port }}; admins={{ admins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307035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Separating variables from logic keeps playbooks reusable across environments.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Formats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Scalar:</a:t>
            </a:r>
            <a:r>
              <a:rPr b="0" i="0" sz="1400">
                <a:solidFill>
                  <a:srgbClr val="312D2A"/>
                </a:solidFill>
              </a:rPr>
              <a:t> -e "x=34"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Multiple:</a:t>
            </a:r>
            <a:r>
              <a:rPr b="0" i="0" sz="1400">
                <a:solidFill>
                  <a:srgbClr val="312D2A"/>
                </a:solidFill>
              </a:rPr>
              <a:t> -e "x=34 y=45"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Spaces:</a:t>
            </a:r>
            <a:r>
              <a:rPr b="0" i="0" sz="1400">
                <a:solidFill>
                  <a:srgbClr val="312D2A"/>
                </a:solidFill>
              </a:rPr>
              <a:t> -e "x='from cli'"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Sequence:</a:t>
            </a:r>
            <a:r>
              <a:rPr b="0" i="0" sz="1400">
                <a:solidFill>
                  <a:srgbClr val="312D2A"/>
                </a:solidFill>
              </a:rPr>
              <a:t> -e "{'x':[34,45]}"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Map:</a:t>
            </a:r>
            <a:r>
              <a:rPr b="0" i="0" sz="1400">
                <a:solidFill>
                  <a:srgbClr val="312D2A"/>
                </a:solidFill>
              </a:rPr>
              <a:t> -e "{'x':{'one':1}}"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From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YAML:</a:t>
            </a:r>
            <a:r>
              <a:rPr b="0" i="0" sz="1400">
                <a:solidFill>
                  <a:srgbClr val="312D2A"/>
                </a:solidFill>
              </a:rPr>
              <a:t> -e "@vars.yml"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JSON:</a:t>
            </a:r>
            <a:r>
              <a:rPr b="0" i="0" sz="1400">
                <a:solidFill>
                  <a:srgbClr val="312D2A"/>
                </a:solidFill>
              </a:rPr>
              <a:t> -e "@vars.json"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Keeps</a:t>
            </a:r>
            <a:r>
              <a:rPr b="0" i="0" sz="1400">
                <a:solidFill>
                  <a:srgbClr val="312D2A"/>
                </a:solidFill>
              </a:rPr>
              <a:t> playbooks reusable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Highest</a:t>
            </a:r>
            <a:r>
              <a:rPr b="0" i="0" sz="1400">
                <a:solidFill>
                  <a:srgbClr val="312D2A"/>
                </a:solidFill>
              </a:rPr>
              <a:t> precedence of all vars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Command-line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Pass variables into a playbook at run time with --extra-vars (-e).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Reading a Command-line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The playbook references {{ x }}; the value arrives at launch via -e.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cmd_line.yml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"The x value is: {{ x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Supply x at launch — several equivalent forms: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cmd_line.yml -e "x=34"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cmd_line.yml --extra-vars "x=34 y=45"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cmd_line.yml -e "x='this is from command line'"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cmd_line.yml -e "@xyz.yml"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102566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-e overrides vars: in the play, which makes playbooks easy to parameterise.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register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Stores</a:t>
            </a:r>
            <a:r>
              <a:rPr b="0" i="0" sz="1400">
                <a:solidFill>
                  <a:srgbClr val="312D2A"/>
                </a:solidFill>
              </a:rPr>
              <a:t> a module's result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Holds</a:t>
            </a:r>
            <a:r>
              <a:rPr b="0" i="0" sz="1400">
                <a:solidFill>
                  <a:srgbClr val="312D2A"/>
                </a:solidFill>
              </a:rPr>
              <a:t> stdout, rc, changed...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Reuse</a:t>
            </a:r>
            <a:r>
              <a:rPr b="0" i="0" sz="1400">
                <a:solidFill>
                  <a:srgbClr val="312D2A"/>
                </a:solidFill>
              </a:rPr>
              <a:t> in when:, debug, logs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up_time.stdout</a:t>
            </a:r>
            <a:r>
              <a:rPr b="0" i="0" sz="1400">
                <a:solidFill>
                  <a:srgbClr val="312D2A"/>
                </a:solidFill>
              </a:rPr>
              <a:t> —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set_fact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Defines</a:t>
            </a:r>
            <a:r>
              <a:rPr b="0" i="0" sz="1400">
                <a:solidFill>
                  <a:srgbClr val="312D2A"/>
                </a:solidFill>
              </a:rPr>
              <a:t> new variables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Computed</a:t>
            </a:r>
            <a:r>
              <a:rPr b="0" i="0" sz="1400">
                <a:solidFill>
                  <a:srgbClr val="312D2A"/>
                </a:solidFill>
              </a:rPr>
              <a:t> from vars/facts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Persists</a:t>
            </a:r>
            <a:r>
              <a:rPr b="0" i="0" sz="1400">
                <a:solidFill>
                  <a:srgbClr val="312D2A"/>
                </a:solidFill>
              </a:rPr>
              <a:t> for the play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Pairs</a:t>
            </a:r>
            <a:r>
              <a:rPr b="0" i="0" sz="1400">
                <a:solidFill>
                  <a:srgbClr val="312D2A"/>
                </a:solidFill>
              </a:rPr>
              <a:t> with filters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register &amp; set_fact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Capture a task's output, or compute new variables at run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5942688"/>
            <a:ext cx="10671048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sz="1200">
                <a:solidFill>
                  <a:srgbClr val="C74634"/>
                </a:solidFill>
              </a:rPr>
              <a:t>Pattern</a:t>
            </a:r>
          </a:p>
          <a:p>
            <a:r>
              <a:rPr b="0" i="0" sz="1200">
                <a:solidFill>
                  <a:srgbClr val="312D2A"/>
                </a:solidFill>
                <a:latin typeface="Consolas"/>
              </a:rPr>
              <a:t>shell: uptime → register: up_time → debug: var=up_time.stdout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register &amp; set_fact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register captures raw output; set_fact turns it into a clean, reusable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Get the bash 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"bash --version | head -1"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bash_out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Build a derived fact from the 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set_fact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bash_summary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"{{ inventory_hostname }} -&gt; {{ bash_out.stdout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var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bash_summary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102566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 registered variable exposes .stdout, .stderr, .rc and .changed for later tasks.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Default Variables: inventory_hostname &amp; hostvars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Ansible defines handy variables: the host's name, its groups, and every other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Who am I, and what groups am I in?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"Host  : {{ inventory_hostname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"Short : {{ inventory_hostname_short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"Groups: {{ groups.keys() | list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Read another host's fact via hostvars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"DB IP is {{ hostvars['172.31.93.132'].ansible_default_ipv4.address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102566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hostvars lets one host read another's facts — essential for multi-tier orchestration.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4: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Write, verify and run your first multi-task playbook, and parameterise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Write a playbook with two named tasks (debug, plus a shell with register).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Validate with  --syntax-check, then dry-run with  --check.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Run with  -v  and read the PLAY RECAP.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Pass a variable at launch with  -e  and print it with debug.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Load a second variable set from a vars_files file.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--syntax-check passes and --check makes no changes.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The play prints your -e variable and the file-based variables.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 — Operators, Conditionals &amp; Loops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The logic that makes playbooks adapt to each host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Arithmetic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+  -  *  /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%  (modulo)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On numbers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Jinja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Comparison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==  !=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&gt;  &lt;  &gt;=  &lt;=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Strings</a:t>
            </a:r>
            <a:r>
              <a:rPr b="0" i="0" sz="1400">
                <a:solidFill>
                  <a:srgbClr val="312D2A"/>
                </a:solidFill>
              </a:rPr>
              <a:t> &amp; numbers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Result</a:t>
            </a:r>
            <a:r>
              <a:rPr b="0" i="0" sz="1400">
                <a:solidFill>
                  <a:srgbClr val="312D2A"/>
                </a:solidFill>
              </a:rPr>
              <a:t> true/false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Logical &amp; membership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and  or  not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  /  not in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Combine</a:t>
            </a:r>
            <a:r>
              <a:rPr b="0" i="0" sz="1400">
                <a:solidFill>
                  <a:srgbClr val="312D2A"/>
                </a:solidFill>
              </a:rPr>
              <a:t> conditions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For</a:t>
            </a:r>
            <a:r>
              <a:rPr b="0" i="0" sz="1400">
                <a:solidFill>
                  <a:srgbClr val="312D2A"/>
                </a:solidFill>
              </a:rPr>
              <a:t> when: clauses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Operators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Built on Jinja2 — the foundation for expressions and conditionals.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Arithmetic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Arithmetic happens inside {{ }} using ordinary Jinja2 operators.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367035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a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b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"Sum        : {{ a + b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"Difference : {{ a - b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"Product    : {{ a * b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"Quotient   : {{ a / b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"Remainder  : {{ a % b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- "Power      : {{ a ** 2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307035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Mixed int/float math promotes to float — use the int/round filters to control the result.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Comparison &amp; 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Comparisons return true/false; and / or / not combine them for when:.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84711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score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75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role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web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{ msg: "Pass?  {{ score &gt;= 60 }}"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{ msg: "Exact? {{ role == 'web' }}"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Run only when BOTH conditions hold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"Eligible web host"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score &gt;= 60 and role == 'web'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Run when EITHER holds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"Needs attention"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score &lt; 60 or role != 'web'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8711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Keep complex conditions readable — split long boolean logic across multiple tasks.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Membership &amp; Test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in / not in test membership; the is keyword runs Jinja2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pkgs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[ httpd, git, wget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num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"git present?  {{ 'git' in pkgs }}"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"nginx absent? {{ 'nginx' not in pkgs }}"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      # 'is' test operators: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"num defined? {{ num is defined }}"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"num odd?     {{ num is odd }}"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"divisible 3? {{ num is divisibleby 3 }}"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102566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Tests cover variables (is defined), numbers (is odd/even), paths (is file) and tasks (is failed).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Variables &amp; strings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defined</a:t>
            </a:r>
            <a:r>
              <a:rPr b="0" i="0" sz="1400">
                <a:solidFill>
                  <a:srgbClr val="312D2A"/>
                </a:solidFill>
              </a:rPr>
              <a:t> / is undefined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lower</a:t>
            </a:r>
            <a:r>
              <a:rPr b="0" i="0" sz="1400">
                <a:solidFill>
                  <a:srgbClr val="312D2A"/>
                </a:solidFill>
              </a:rPr>
              <a:t> / is upper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Numbers &amp; sequences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odd</a:t>
            </a:r>
            <a:r>
              <a:rPr b="0" i="0" sz="1400">
                <a:solidFill>
                  <a:srgbClr val="312D2A"/>
                </a:solidFill>
              </a:rPr>
              <a:t> / is even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divisibleby(n)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subset</a:t>
            </a:r>
            <a:r>
              <a:rPr b="0" i="0" sz="1400">
                <a:solidFill>
                  <a:srgbClr val="312D2A"/>
                </a:solidFill>
              </a:rPr>
              <a:t> / is superset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Paths &amp;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file</a:t>
            </a:r>
            <a:r>
              <a:rPr b="0" i="0" sz="1400">
                <a:solidFill>
                  <a:srgbClr val="312D2A"/>
                </a:solidFill>
              </a:rPr>
              <a:t> / is directory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exists</a:t>
            </a:r>
            <a:r>
              <a:rPr b="0" i="0" sz="1400">
                <a:solidFill>
                  <a:srgbClr val="312D2A"/>
                </a:solidFill>
              </a:rPr>
              <a:t> / is link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succeeded</a:t>
            </a:r>
            <a:r>
              <a:rPr b="0" i="0" sz="1400">
                <a:solidFill>
                  <a:srgbClr val="312D2A"/>
                </a:solidFill>
              </a:rPr>
              <a:t> / is failed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is changed</a:t>
            </a:r>
            <a:r>
              <a:rPr b="0" i="0" sz="1400">
                <a:solidFill>
                  <a:srgbClr val="312D2A"/>
                </a:solidFill>
              </a:rPr>
              <a:t> / is skipped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Test Operators — the Full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is keyword runs rich validations across many value kinds.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Filters vs methods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Jinja2 filters</a:t>
            </a:r>
            <a:r>
              <a:rPr b="0" i="0" sz="1400">
                <a:solidFill>
                  <a:srgbClr val="312D2A"/>
                </a:solidFill>
              </a:rPr>
              <a:t> use a pipe |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{{ name | upper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Python methods</a:t>
            </a:r>
            <a:r>
              <a:rPr b="0" i="0" sz="1400">
                <a:solidFill>
                  <a:srgbClr val="312D2A"/>
                </a:solidFill>
              </a:rPr>
              <a:t> use a dot .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{{ text.split(',')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type_debug, default,</a:t>
            </a:r>
            <a:r>
              <a:rPr b="0" i="0" sz="1400">
                <a:solidFill>
                  <a:srgbClr val="312D2A"/>
                </a:solidFill>
              </a:rPr>
              <a:t> join,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Plugins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Code</a:t>
            </a:r>
            <a:r>
              <a:rPr b="0" i="0" sz="1400">
                <a:solidFill>
                  <a:srgbClr val="312D2A"/>
                </a:solidFill>
              </a:rPr>
              <a:t> that extends core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Filter</a:t>
            </a:r>
            <a:r>
              <a:rPr b="0" i="0" sz="1400">
                <a:solidFill>
                  <a:srgbClr val="312D2A"/>
                </a:solidFill>
              </a:rPr>
              <a:t> plugins add filters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Lookup,</a:t>
            </a:r>
            <a:r>
              <a:rPr b="0" i="0" sz="1400">
                <a:solidFill>
                  <a:srgbClr val="312D2A"/>
                </a:solidFill>
              </a:rPr>
              <a:t> callback, connection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Many</a:t>
            </a:r>
            <a:r>
              <a:rPr b="0" i="0" sz="1400">
                <a:solidFill>
                  <a:srgbClr val="312D2A"/>
                </a:solidFill>
              </a:rPr>
              <a:t> ship in; write your own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Filters, Methods &amp; 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Two ways to transform data, plus the extension points behind them.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Filters &amp; Python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Pipe filters together, call Python methods with a dot, and combine the two.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549159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 ansible 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csv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"alice,bob,carol"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"{{ name | trim | upper }}" }          </a:t>
            </a:r>
            <a:r>
              <a:rPr b="0" i="0" sz="1150">
                <a:solidFill>
                  <a:srgbClr val="9FB49A"/>
                </a:solidFill>
                <a:latin typeface="Consolas"/>
              </a:rPr>
              <a:t># filter 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"{{ csv.split(',') }}" }                </a:t>
            </a:r>
            <a:r>
              <a:rPr b="0" i="0" sz="1150">
                <a:solidFill>
                  <a:srgbClr val="9FB49A"/>
                </a:solidFill>
                <a:latin typeface="Consolas"/>
              </a:rPr>
              <a:t># python 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"{{ csv.split(',') | length }} names" } </a:t>
            </a:r>
            <a:r>
              <a:rPr b="0" i="0" sz="1150">
                <a:solidFill>
                  <a:srgbClr val="9FB49A"/>
                </a:solidFill>
                <a:latin typeface="Consolas"/>
              </a:rPr>
              <a:t># mix both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"{{ undefined_var | default('N/A') }}"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489159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default() is a lifesaver — it supplies a fallback when a variable might be undefined.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Three keywords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when</a:t>
            </a:r>
            <a:r>
              <a:rPr b="0" i="0" sz="1400">
                <a:solidFill>
                  <a:srgbClr val="312D2A"/>
                </a:solidFill>
              </a:rPr>
              <a:t> — run the task only if true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failed_when</a:t>
            </a:r>
            <a:r>
              <a:rPr b="0" i="0" sz="1400">
                <a:solidFill>
                  <a:srgbClr val="312D2A"/>
                </a:solidFill>
              </a:rPr>
              <a:t> — define failure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changed_when</a:t>
            </a:r>
            <a:r>
              <a:rPr b="0" i="0" sz="1400">
                <a:solidFill>
                  <a:srgbClr val="312D2A"/>
                </a:solidFill>
              </a:rPr>
              <a:t> — define change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Built from</a:t>
            </a:r>
            <a:r>
              <a:rPr b="0" i="0" sz="1400">
                <a:solidFill>
                  <a:srgbClr val="312D2A"/>
                </a:solidFill>
              </a:rPr>
              <a:t> operators &amp;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Inline conditionals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if-else</a:t>
            </a:r>
            <a:r>
              <a:rPr b="0" i="0" sz="1400">
                <a:solidFill>
                  <a:srgbClr val="312D2A"/>
                </a:solidFill>
              </a:rPr>
              <a:t> inside {{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For debug</a:t>
            </a:r>
            <a:r>
              <a:rPr b="0" i="0" sz="1400">
                <a:solidFill>
                  <a:srgbClr val="312D2A"/>
                </a:solidFill>
              </a:rPr>
              <a:t> &amp; defining vars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{{ 'on' if x else 'off'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One-line</a:t>
            </a:r>
            <a:r>
              <a:rPr b="0" i="0" sz="1400">
                <a:solidFill>
                  <a:srgbClr val="312D2A"/>
                </a:solidFill>
              </a:rPr>
              <a:t> choices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Conditional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Run, skip, or redefine task results based on expressions — Ansible's if logic.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when: Install the Right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One playbook, two paths — when checks gathered facts to choose.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775973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a web server matching the 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httpd on RedHat family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present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ansible_distribution != "Ubuntu"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apache2 on Debian/Ubuntu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apt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apache2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present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ansible_distribution == "Ubuntu"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15973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This single play runs unchanged across RedHat and Debian fleets.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failed_when &amp; changed_when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Override Ansible's defaults: define what counts as failed, or as changed.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571504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Treat a specific output as failure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"/usr/local/bin/health_check.sh"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health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failed_when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"'ERROR' in health.stdout"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 read-only command never reports 'changed'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"cat /etc/hostname"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hn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changed_when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var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hn.stdout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511504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changed_when: false keeps read-only commands from cluttering the run with yellow output.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Inline Conditional (if / else)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Inline if/else picks a value in one expression — great for debug and set_fact.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753628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free_mb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350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Decide a status inline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set_fact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disk_status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"{{ 'LOW' if free_mb &lt; 500 else 'OK'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"Disk status is {{ disk_status }} ({{ free_mb }} MB free)"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693628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Use inline conditionals for simple choices; use when: to run or skip whole tasks.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loop?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Install</a:t>
            </a:r>
            <a:r>
              <a:rPr b="0" i="0" sz="1400">
                <a:solidFill>
                  <a:srgbClr val="312D2A"/>
                </a:solidFill>
              </a:rPr>
              <a:t> many packages in one task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Create</a:t>
            </a:r>
            <a:r>
              <a:rPr b="0" i="0" sz="1400">
                <a:solidFill>
                  <a:srgbClr val="312D2A"/>
                </a:solidFill>
              </a:rPr>
              <a:t> several users or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loop:</a:t>
            </a:r>
            <a:r>
              <a:rPr b="0" i="0" sz="1400">
                <a:solidFill>
                  <a:srgbClr val="312D2A"/>
                </a:solidFill>
              </a:rPr>
              <a:t> the modern keyword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with_items</a:t>
            </a:r>
            <a:r>
              <a:rPr b="0" i="0" sz="1400">
                <a:solidFill>
                  <a:srgbClr val="312D2A"/>
                </a:solidFill>
              </a:rPr>
              <a:t> — older equivalent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How it reads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{{ item }}</a:t>
            </a:r>
            <a:r>
              <a:rPr b="0" i="0" sz="1400">
                <a:solidFill>
                  <a:srgbClr val="312D2A"/>
                </a:solidFill>
              </a:rPr>
              <a:t> is the current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Iterates</a:t>
            </a:r>
            <a:r>
              <a:rPr b="0" i="0" sz="1400">
                <a:solidFill>
                  <a:srgbClr val="312D2A"/>
                </a:solidFill>
              </a:rPr>
              <a:t> the supplied list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Cleaner</a:t>
            </a:r>
            <a:r>
              <a:rPr b="0" i="0" sz="1400">
                <a:solidFill>
                  <a:srgbClr val="312D2A"/>
                </a:solidFill>
              </a:rPr>
              <a:t> than repeated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Combine</a:t>
            </a:r>
            <a:r>
              <a:rPr b="0" i="0" sz="1400">
                <a:solidFill>
                  <a:srgbClr val="312D2A"/>
                </a:solidFill>
              </a:rPr>
              <a:t> with when: per item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Repeat a task over a list instead of copying it many times.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loop: Install Multiple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One task plus a list replaces four near-identical tasks.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84711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Install several packages at once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Install packages (modern loop)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"{{ item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present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loop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-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- 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- wget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- unzip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9FB49A"/>
                </a:solidFill>
                <a:latin typeface="Consolas"/>
              </a:rPr>
              <a:t>      # Equivalent older style: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Install packages (with_items)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{ name: "{{ item }}", state: present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with_items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[ vim, curl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8711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Modern modules accept a list directly in name:, but loop is the general-purpose tool.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Looping Over a List of Dicts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Each item can be a dictionary, accessed with item.&lt;key&gt; inside the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users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- { name: alice, group: admin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- { name: bob,   group: dev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Create users from a list of dictionaries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"Would create {{ item.name }} in group {{ item.group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loop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"{{ users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item.group == 'admin'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Combine loop with when: to act on only the items that match a condition.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is a handler?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task</a:t>
            </a:r>
            <a:r>
              <a:rPr b="0" i="0" sz="1400">
                <a:solidFill>
                  <a:srgbClr val="312D2A"/>
                </a:solidFill>
              </a:rPr>
              <a:t> that waits to be triggered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Triggered</a:t>
            </a:r>
            <a:r>
              <a:rPr b="0" i="0" sz="1400">
                <a:solidFill>
                  <a:srgbClr val="312D2A"/>
                </a:solidFill>
              </a:rPr>
              <a:t> by notify: from a task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Runs once</a:t>
            </a:r>
            <a:r>
              <a:rPr b="0" i="0" sz="1400">
                <a:solidFill>
                  <a:srgbClr val="312D2A"/>
                </a:solidFill>
              </a:rPr>
              <a:t> at the end of the play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Only if</a:t>
            </a:r>
            <a:r>
              <a:rPr b="0" i="0" sz="1400">
                <a:solidFill>
                  <a:srgbClr val="312D2A"/>
                </a:solidFill>
              </a:rPr>
              <a:t> the notifier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Typical use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Edit config</a:t>
            </a:r>
            <a:r>
              <a:rPr b="0" i="0" sz="1400">
                <a:solidFill>
                  <a:srgbClr val="312D2A"/>
                </a:solidFill>
              </a:rPr>
              <a:t> → notify restart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Restart</a:t>
            </a:r>
            <a:r>
              <a:rPr b="0" i="0" sz="1400">
                <a:solidFill>
                  <a:srgbClr val="312D2A"/>
                </a:solidFill>
              </a:rPr>
              <a:t> only on real change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Avoids</a:t>
            </a:r>
            <a:r>
              <a:rPr b="0" i="0" sz="1400">
                <a:solidFill>
                  <a:srgbClr val="312D2A"/>
                </a:solidFill>
              </a:rPr>
              <a:t> needless bounces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Defined</a:t>
            </a:r>
            <a:r>
              <a:rPr b="0" i="0" sz="1400">
                <a:solidFill>
                  <a:srgbClr val="312D2A"/>
                </a:solidFill>
              </a:rPr>
              <a:t> under handlers: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Tasks that run only when notified — ideal for restart-on-change.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Handler: Restart on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The copy task notifies the handler; the handler runs once, only if the file changed.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571504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Configure and (re)start Apache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Deploy the config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copy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src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./httpd.conf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dest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/etc/httpd/conf/httpd.conf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notify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restart httpd        </a:t>
            </a:r>
            <a:r>
              <a:rPr b="0" i="0" sz="1150">
                <a:solidFill>
                  <a:srgbClr val="9FB49A"/>
                </a:solidFill>
                <a:latin typeface="Consolas"/>
              </a:rPr>
              <a:t># fires the handler IF this changed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handlers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restart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service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httpd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restarted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511504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If the config is already correct, copy reports no change and the restart is skipped.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5: Operators, Conditionals &amp;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Make a playbook adapt to each host using logic, conditions and loops.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Use  when:  with a fact to install httpd OR apache2 by distribution.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Add a task with  failed_when  based on a registered output.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Use  changed_when: false  on a read-only command.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Install three packages with a single  loop.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Print an inline if/else status with  set_fact.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The correct web server installs on each OS family.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The loop installs all three packages; the inline status prints correctly.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 — Tags, Error Handling &amp; Reuse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Run exactly what you want, fail gracefully, and avoid repeating yourself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tags?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Select</a:t>
            </a:r>
            <a:r>
              <a:rPr b="0" i="0" sz="1400">
                <a:solidFill>
                  <a:srgbClr val="312D2A"/>
                </a:solidFill>
              </a:rPr>
              <a:t> a subset of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Skip</a:t>
            </a:r>
            <a:r>
              <a:rPr b="0" i="0" sz="1400">
                <a:solidFill>
                  <a:srgbClr val="312D2A"/>
                </a:solidFill>
              </a:rPr>
              <a:t> tasks you don't need now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Run:</a:t>
            </a:r>
            <a:r>
              <a:rPr b="0" i="0" sz="1400">
                <a:solidFill>
                  <a:srgbClr val="312D2A"/>
                </a:solidFill>
              </a:rPr>
              <a:t> --tags "setup,deploy"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Skip:</a:t>
            </a:r>
            <a:r>
              <a:rPr b="0" i="0" sz="1400">
                <a:solidFill>
                  <a:srgbClr val="312D2A"/>
                </a:solidFill>
              </a:rPr>
              <a:t> --skip-tags "never"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Where they help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Big playbooks</a:t>
            </a:r>
            <a:r>
              <a:rPr b="0" i="0" sz="1400">
                <a:solidFill>
                  <a:srgbClr val="312D2A"/>
                </a:solidFill>
              </a:rPr>
              <a:t> — run one phase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Re-run</a:t>
            </a:r>
            <a:r>
              <a:rPr b="0" i="0" sz="1400">
                <a:solidFill>
                  <a:srgbClr val="312D2A"/>
                </a:solidFill>
              </a:rPr>
              <a:t> just the failed part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Faster</a:t>
            </a:r>
            <a:r>
              <a:rPr b="0" i="0" sz="1400">
                <a:solidFill>
                  <a:srgbClr val="312D2A"/>
                </a:solidFill>
              </a:rPr>
              <a:t> iteration loops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 task</a:t>
            </a:r>
            <a:r>
              <a:rPr b="0" i="0" sz="1400">
                <a:solidFill>
                  <a:srgbClr val="312D2A"/>
                </a:solidFill>
              </a:rPr>
              <a:t> can carry many tags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Label tasks so you can run or skip exactly the ones you want.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always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Runs</a:t>
            </a:r>
            <a:r>
              <a:rPr b="0" i="0" sz="1400">
                <a:solidFill>
                  <a:srgbClr val="312D2A"/>
                </a:solidFill>
              </a:rPr>
              <a:t> on every invocation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Unless</a:t>
            </a:r>
            <a:r>
              <a:rPr b="0" i="0" sz="1400">
                <a:solidFill>
                  <a:srgbClr val="312D2A"/>
                </a:solidFill>
              </a:rPr>
              <a:t> explicitly skipped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Good for</a:t>
            </a:r>
            <a:r>
              <a:rPr b="0" i="0" sz="1400">
                <a:solidFill>
                  <a:srgbClr val="312D2A"/>
                </a:solidFill>
              </a:rPr>
              <a:t> setup / safety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--skip-tags always</a:t>
            </a:r>
            <a:r>
              <a:rPr b="0" i="0" sz="1400">
                <a:solidFill>
                  <a:srgbClr val="312D2A"/>
                </a:solidFill>
              </a:rPr>
              <a:t> to bypass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never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Skipped</a:t>
            </a:r>
            <a:r>
              <a:rPr b="0" i="0" sz="1400">
                <a:solidFill>
                  <a:srgbClr val="312D2A"/>
                </a:solidFill>
              </a:rPr>
              <a:t> by default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Runs</a:t>
            </a:r>
            <a:r>
              <a:rPr b="0" i="0" sz="1400">
                <a:solidFill>
                  <a:srgbClr val="312D2A"/>
                </a:solidFill>
              </a:rPr>
              <a:t> only when named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Good for</a:t>
            </a:r>
            <a:r>
              <a:rPr b="0" i="0" sz="1400">
                <a:solidFill>
                  <a:srgbClr val="312D2A"/>
                </a:solidFill>
              </a:rPr>
              <a:t> dangerous / debug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--tags never</a:t>
            </a:r>
            <a:r>
              <a:rPr b="0" i="0" sz="1400">
                <a:solidFill>
                  <a:srgbClr val="312D2A"/>
                </a:solidFill>
              </a:rPr>
              <a:t> to include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Special Tags — always &amp; never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Two reserved tags change a task's default selection behaviour.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Selecting Tasks with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always runs by default; never waits until you ask for it explicitly.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980442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Play with tagged tasks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"First task"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tags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[ first, common, always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"Second task"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tags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[ second, never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msg: "Third task"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tags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[ third, common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 only 'common' tasks (plus anything tagged 'always'):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tags.yml --tags common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 everything except tasks tagged 'never':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tags.yml --skip-tags never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920442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--tags and --skip-tags turn one large playbook into many targeted runs.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Default behaviour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Non-zero</a:t>
            </a:r>
            <a:r>
              <a:rPr b="0" i="0" sz="1400">
                <a:solidFill>
                  <a:srgbClr val="312D2A"/>
                </a:solidFill>
              </a:rPr>
              <a:t> return code = failure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Play stops</a:t>
            </a:r>
            <a:r>
              <a:rPr b="0" i="0" sz="1400">
                <a:solidFill>
                  <a:srgbClr val="312D2A"/>
                </a:solidFill>
              </a:rPr>
              <a:t> for that host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Other hosts</a:t>
            </a:r>
            <a:r>
              <a:rPr b="0" i="0" sz="1400">
                <a:solidFill>
                  <a:srgbClr val="312D2A"/>
                </a:solidFill>
              </a:rPr>
              <a:t> continue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Return codes</a:t>
            </a:r>
            <a:r>
              <a:rPr b="0" i="0" sz="1400">
                <a:solidFill>
                  <a:srgbClr val="312D2A"/>
                </a:solidFill>
              </a:rPr>
              <a:t> are checked for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Per-task controls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ignore_errors: yes</a:t>
            </a:r>
            <a:r>
              <a:rPr b="0" i="0" sz="1400">
                <a:solidFill>
                  <a:srgbClr val="312D2A"/>
                </a:solidFill>
              </a:rPr>
              <a:t> — keep going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failed_when</a:t>
            </a:r>
            <a:r>
              <a:rPr b="0" i="0" sz="1400">
                <a:solidFill>
                  <a:srgbClr val="312D2A"/>
                </a:solidFill>
              </a:rPr>
              <a:t> — your own failure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changed_when</a:t>
            </a:r>
            <a:r>
              <a:rPr b="0" i="0" sz="1400">
                <a:solidFill>
                  <a:srgbClr val="312D2A"/>
                </a:solidFill>
              </a:rPr>
              <a:t> — your own change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Group</a:t>
            </a:r>
            <a:r>
              <a:rPr b="0" i="0" sz="1400">
                <a:solidFill>
                  <a:srgbClr val="312D2A"/>
                </a:solidFill>
              </a:rPr>
              <a:t> with block (next)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Error Handling —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By default a failed task stops the play on that host; these tools change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ignore_errors &amp; failed_when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Decide for yourself what counts as failure, or carry on past expected errors.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775973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This may fail, but don't stop the play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command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"/usr/bin/maybe_missing_tool"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ignore_errors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Non-zero here is actually fine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"grep WARN /var/log/app.log"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grep_out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failed_when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Fail only on a real error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"/usr/local/bin/deploy.sh"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dep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failed_when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"'FATAL' in dep.stdout"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15973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grep returns non-zero when it finds nothing — failed_when: false keeps that from failing the play.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The three sections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block</a:t>
            </a:r>
            <a:r>
              <a:rPr b="0" i="0" sz="1400">
                <a:solidFill>
                  <a:srgbClr val="312D2A"/>
                </a:solidFill>
              </a:rPr>
              <a:t> — the tasks to attempt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rescue</a:t>
            </a:r>
            <a:r>
              <a:rPr b="0" i="0" sz="1400">
                <a:solidFill>
                  <a:srgbClr val="312D2A"/>
                </a:solidFill>
              </a:rPr>
              <a:t> — runs if the block fails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always</a:t>
            </a:r>
            <a:r>
              <a:rPr b="0" i="0" sz="1400">
                <a:solidFill>
                  <a:srgbClr val="312D2A"/>
                </a:solidFill>
              </a:rPr>
              <a:t> — runs no matter what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Like</a:t>
            </a:r>
            <a:r>
              <a:rPr b="0" i="0" sz="1400">
                <a:solidFill>
                  <a:srgbClr val="312D2A"/>
                </a:solidFill>
              </a:rPr>
              <a:t> try / except / 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block is powerful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Apply</a:t>
            </a:r>
            <a:r>
              <a:rPr b="0" i="0" sz="1400">
                <a:solidFill>
                  <a:srgbClr val="312D2A"/>
                </a:solidFill>
              </a:rPr>
              <a:t> become / when once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To a whole</a:t>
            </a:r>
            <a:r>
              <a:rPr b="0" i="0" sz="1400">
                <a:solidFill>
                  <a:srgbClr val="312D2A"/>
                </a:solidFill>
              </a:rPr>
              <a:t> group of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Cleaner</a:t>
            </a:r>
            <a:r>
              <a:rPr b="0" i="0" sz="1400">
                <a:solidFill>
                  <a:srgbClr val="312D2A"/>
                </a:solidFill>
              </a:rPr>
              <a:t> than per-task options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Recover</a:t>
            </a:r>
            <a:r>
              <a:rPr b="0" i="0" sz="1400">
                <a:solidFill>
                  <a:srgbClr val="312D2A"/>
                </a:solidFill>
              </a:rPr>
              <a:t> then continue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block / rescue / always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Group tasks and handle their failures gracefully — like try / except / finally.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block / rescue / always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Attempt risky work in block, recover in rescue, finish in always.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block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Try listing a path that may not exist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command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"ls /home/ansadmin/tomcat8"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tomcat8_out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rescue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"The path /home/ansadmin/tomcat8 is not valid"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always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msg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"This always executes — cleanup or logging"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102566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always is the place for cleanup that must run whether or not the block succeeded.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block with Shared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Set when: and become: once on the block instead of on every task inside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775973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&amp; start the right web server for RedHat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block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    { name: httpd, state: present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service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name: httpd, state: started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ansible_os_family == "RedHat"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&amp; start for Debian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block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apt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    { name: apache2, state: present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service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name: apache2, state: started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ansible_os_family == "Debian"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15973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Grouping with block keeps OS-specific branches tidy and avoids repeating conditions.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import_* (static)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Pre-processed</a:t>
            </a:r>
            <a:r>
              <a:rPr b="0" i="0" sz="1400">
                <a:solidFill>
                  <a:srgbClr val="312D2A"/>
                </a:solidFill>
              </a:rPr>
              <a:t> at parse time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Known</a:t>
            </a:r>
            <a:r>
              <a:rPr b="0" i="0" sz="1400">
                <a:solidFill>
                  <a:srgbClr val="312D2A"/>
                </a:solidFill>
              </a:rPr>
              <a:t> before the run starts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import_tasks,</a:t>
            </a:r>
            <a:r>
              <a:rPr b="0" i="0" sz="1400">
                <a:solidFill>
                  <a:srgbClr val="312D2A"/>
                </a:solidFill>
              </a:rPr>
              <a:t> import_playbook,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import_role,</a:t>
            </a:r>
            <a:r>
              <a:rPr b="0" i="0" sz="1400">
                <a:solidFill>
                  <a:srgbClr val="312D2A"/>
                </a:solidFill>
              </a:rPr>
              <a:t> import_vars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include_* (dynamic)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Processed</a:t>
            </a:r>
            <a:r>
              <a:rPr b="0" i="0" sz="1400">
                <a:solidFill>
                  <a:srgbClr val="312D2A"/>
                </a:solidFill>
              </a:rPr>
              <a:t> when reached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Can depend</a:t>
            </a:r>
            <a:r>
              <a:rPr b="0" i="0" sz="1400">
                <a:solidFill>
                  <a:srgbClr val="312D2A"/>
                </a:solidFill>
              </a:rPr>
              <a:t> on runtime values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include_tasks,</a:t>
            </a:r>
            <a:r>
              <a:rPr b="0" i="0" sz="1400">
                <a:solidFill>
                  <a:srgbClr val="312D2A"/>
                </a:solidFill>
              </a:rPr>
              <a:t> include_role,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Rule:</a:t>
            </a:r>
            <a:r>
              <a:rPr b="0" i="0" sz="1400">
                <a:solidFill>
                  <a:srgbClr val="312D2A"/>
                </a:solidFill>
              </a:rPr>
              <a:t> import=static, include=dynamic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import vs include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Two ways to reuse task files — the difference is WHEN Ansible reads them.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Reusing Task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Split logic into small files, then pull them in with import or include.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775973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packages by OS family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import_tasks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install_webserver_RedHat.yml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ansible_os_family == "RedHat"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import_tasks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install_webserver_Debian.yml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ansible_os_family == "Debian"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include_tasks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install_java_RedHat.yml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ansible_os_family == "RedHat"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include_tasks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install_java_Debian.yml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when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ansible_os_family == "Debian"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15973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Use include_* when the file to run is decided during the play; import_* when it's fixed.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The keywords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delegate_to:</a:t>
            </a:r>
            <a:r>
              <a:rPr b="0" i="0" sz="1400">
                <a:solidFill>
                  <a:srgbClr val="312D2A"/>
                </a:solidFill>
              </a:rPr>
              <a:t> run on another host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delegate_to: localhost</a:t>
            </a:r>
            <a:r>
              <a:rPr b="0" i="0" sz="1400">
                <a:solidFill>
                  <a:srgbClr val="312D2A"/>
                </a:solidFill>
              </a:rPr>
              <a:t> — the engine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local_action:</a:t>
            </a:r>
            <a:r>
              <a:rPr b="0" i="0" sz="1400">
                <a:solidFill>
                  <a:srgbClr val="312D2A"/>
                </a:solidFill>
              </a:rPr>
              <a:t> shorthand for localhost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run_once: true</a:t>
            </a:r>
            <a:r>
              <a:rPr b="0" i="0" sz="1400">
                <a:solidFill>
                  <a:srgbClr val="312D2A"/>
                </a:solidFill>
              </a:rPr>
              <a:t> — once for the batch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Where it helps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Write a report</a:t>
            </a:r>
            <a:r>
              <a:rPr b="0" i="0" sz="1400">
                <a:solidFill>
                  <a:srgbClr val="312D2A"/>
                </a:solidFill>
              </a:rPr>
              <a:t> on the controller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Call an API</a:t>
            </a:r>
            <a:r>
              <a:rPr b="0" i="0" sz="1400">
                <a:solidFill>
                  <a:srgbClr val="312D2A"/>
                </a:solidFill>
              </a:rPr>
              <a:t> from one place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Update</a:t>
            </a:r>
            <a:r>
              <a:rPr b="0" i="0" sz="1400">
                <a:solidFill>
                  <a:srgbClr val="312D2A"/>
                </a:solidFill>
              </a:rPr>
              <a:t> a load balancer centrally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Build a CSV</a:t>
            </a:r>
            <a:r>
              <a:rPr b="0" i="0" sz="1400">
                <a:solidFill>
                  <a:srgbClr val="312D2A"/>
                </a:solidFill>
              </a:rPr>
              <a:t> from every host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delegate_to, local_action &amp; run_once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 a task somewhere other than the target host — often the control node.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local_action vs delegate_to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local_action is sugar for delegate_to: localhost; both run on the controller.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571504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      # Run on the control node, the short way: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local_action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shell 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control_uptime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      # The explicit, more flexible equivalent: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Same thing with delegate_to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control_uptime2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delegate_to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var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control_uptime.stdout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511504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delegate_to is more flexible — it can target any host, not only localhost.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Discovery Report (delegate_to + run_once)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Every node contributes a row, but the file is built on the control node.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422049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Discovery play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Find uptime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"uptime"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up_time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Create the CSV header once, on the control node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copy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dest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./Discovery.csv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content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"Server, OS Family, OS Name, Distribution\n"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delegate_to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run_once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Append one row per 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lineinfile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path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./Discovery.csv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line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"{{ inventory_hostname }},{{ ansible_os_family }},{{ ansible_system }},{{ ansible_distribution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delegate_to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localhost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616049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run_once writes the header a single time; delegate_to keeps all writes local.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6: Tags, Error Handling &amp;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Control what runs, handle failures gracefully, and split logic into reusable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Tag several tasks and run only one tag with  --tags.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Wrap a risky task in  block / rescue / always  and trigger the rescue.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Use  ignore_errors  on a task that may fail.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Move two tasks into a file and  import_tasks  it with a  when:.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Repeat with  include_tasks  and note when each is evaluated.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--tags runs only the chosen tasks; the rescue block fires on failure.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Both import and include pull in the external task file.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 — Templates, Vault &amp;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Generate per-host config, protect secrets, and package automation properly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templates?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Configs differ</a:t>
            </a:r>
            <a:r>
              <a:rPr b="0" i="0" sz="1400">
                <a:solidFill>
                  <a:srgbClr val="312D2A"/>
                </a:solidFill>
              </a:rPr>
              <a:t> per server/cluster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Static files</a:t>
            </a:r>
            <a:r>
              <a:rPr b="0" i="0" sz="1400">
                <a:solidFill>
                  <a:srgbClr val="312D2A"/>
                </a:solidFill>
              </a:rPr>
              <a:t> don't scale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One .j2</a:t>
            </a:r>
            <a:r>
              <a:rPr b="0" i="0" sz="1400">
                <a:solidFill>
                  <a:srgbClr val="312D2A"/>
                </a:solidFill>
              </a:rPr>
              <a:t> + variables = many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 module</a:t>
            </a:r>
            <a:r>
              <a:rPr b="0" i="0" sz="1400">
                <a:solidFill>
                  <a:srgbClr val="312D2A"/>
                </a:solidFill>
              </a:rPr>
              <a:t> renders &amp; copies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you can do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Insert</a:t>
            </a:r>
            <a:r>
              <a:rPr b="0" i="0" sz="1400">
                <a:solidFill>
                  <a:srgbClr val="312D2A"/>
                </a:solidFill>
              </a:rPr>
              <a:t> variable values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Branch</a:t>
            </a:r>
            <a:r>
              <a:rPr b="0" i="0" sz="1400">
                <a:solidFill>
                  <a:srgbClr val="312D2A"/>
                </a:solidFill>
              </a:rPr>
              <a:t> with conditionals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Repeat</a:t>
            </a:r>
            <a:r>
              <a:rPr b="0" i="0" sz="1400">
                <a:solidFill>
                  <a:srgbClr val="312D2A"/>
                </a:solidFill>
              </a:rPr>
              <a:t> with loops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Transform</a:t>
            </a:r>
            <a:r>
              <a:rPr b="0" i="0" sz="1400">
                <a:solidFill>
                  <a:srgbClr val="312D2A"/>
                </a:solidFill>
              </a:rPr>
              <a:t> with filters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Templates (Jinja2)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Generate per-server config from one .j2 file — same layout, different values.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Variables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{{ variable }}</a:t>
            </a:r>
            <a:r>
              <a:rPr b="0" i="0" sz="1400">
                <a:solidFill>
                  <a:srgbClr val="312D2A"/>
                </a:solidFill>
              </a:rPr>
              <a:t> insert value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{# ... #}</a:t>
            </a:r>
            <a:r>
              <a:rPr b="0" i="0" sz="1400">
                <a:solidFill>
                  <a:srgbClr val="312D2A"/>
                </a:solidFill>
              </a:rPr>
              <a:t> comment a line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Files end</a:t>
            </a:r>
            <a:r>
              <a:rPr b="0" i="0" sz="1400">
                <a:solidFill>
                  <a:srgbClr val="312D2A"/>
                </a:solidFill>
              </a:rPr>
              <a:t> in .j2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Conditionals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{% if c %}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{% elif c2 %}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{% else %}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{% endif %}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Loops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{% for x in list %}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{{ x }}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{% endfor %}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Build</a:t>
            </a:r>
            <a:r>
              <a:rPr b="0" i="0" sz="1400">
                <a:solidFill>
                  <a:srgbClr val="312D2A"/>
                </a:solidFill>
              </a:rPr>
              <a:t> repeated blocks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Template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Three constructs you'll use inside every .j2 file.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Template with Variables &amp; Conditionals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Variables fill in values; {% if %} chooses different blocks per environment.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app.conf.j2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server_name {{ app_name }};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listen {{ app_port }};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{% if env == 'production' %}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log_level warn;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workers 8;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{% else %}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log_level debug;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workers 2;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{% endif %}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{# this is a Jinja comment and won't appear in output #}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The .j2 reads the play's variables — the same template renders prod and dev configs.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Template with a Loop + the template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Loops generate one block per item; the template module renders then copies the 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tomcat-users.xml.j2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{% for user in admin_users %}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&lt;user username="{{ user.name }}" password="{{ user.pass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roles="admin-gui,manager-gui"/&gt;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{% endfor %}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In the playbook — render and place the file: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Configure tomcat-users from template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template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src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tomcat-users.xml.j2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dest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/usr/local/latest/conf/tomcat-users.xml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owner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ansadmin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mode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'0640'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template supports owner/group/mode just like copy — set permissions as you deploy.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Vault?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Playbooks</a:t>
            </a:r>
            <a:r>
              <a:rPr b="0" i="0" sz="1400">
                <a:solidFill>
                  <a:srgbClr val="312D2A"/>
                </a:solidFill>
              </a:rPr>
              <a:t> may hold secrets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Plain text</a:t>
            </a:r>
            <a:r>
              <a:rPr b="0" i="0" sz="1400">
                <a:solidFill>
                  <a:srgbClr val="312D2A"/>
                </a:solidFill>
              </a:rPr>
              <a:t> is a real risk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One bad commit</a:t>
            </a:r>
            <a:r>
              <a:rPr b="0" i="0" sz="1400">
                <a:solidFill>
                  <a:srgbClr val="312D2A"/>
                </a:solidFill>
              </a:rPr>
              <a:t> can leak it all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Encrypt</a:t>
            </a:r>
            <a:r>
              <a:rPr b="0" i="0" sz="1400">
                <a:solidFill>
                  <a:srgbClr val="312D2A"/>
                </a:solidFill>
              </a:rPr>
              <a:t> any YAML with a password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you encrypt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Variable files</a:t>
            </a:r>
            <a:r>
              <a:rPr b="0" i="0" sz="1400">
                <a:solidFill>
                  <a:srgbClr val="312D2A"/>
                </a:solidFill>
              </a:rPr>
              <a:t> (most common)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Whole playbooks</a:t>
            </a:r>
            <a:r>
              <a:rPr b="0" i="0" sz="1400">
                <a:solidFill>
                  <a:srgbClr val="312D2A"/>
                </a:solidFill>
              </a:rPr>
              <a:t> or roles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Individual</a:t>
            </a:r>
            <a:r>
              <a:rPr b="0" i="0" sz="1400">
                <a:solidFill>
                  <a:srgbClr val="312D2A"/>
                </a:solidFill>
              </a:rPr>
              <a:t> variables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Decrypted</a:t>
            </a:r>
            <a:r>
              <a:rPr b="0" i="0" sz="1400">
                <a:solidFill>
                  <a:srgbClr val="312D2A"/>
                </a:solidFill>
              </a:rPr>
              <a:t> only at run time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Ansible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Encrypt sensitive data — credentials, keys, certs — inside your YAML.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Working with ansible-vault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Create, encrypt, edit and run — secrets stay encrypted at rest.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162566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Create a new encrypted file: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ansible-vault create secrets.yml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Encrypt an existing variable file: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ansible-vault encrypt group_vars/prod/vault.yml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View / edit / change the password: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ansible-vault view  secrets.yml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ansible-vault edit  secrets.yml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ansible-vault rekey secrets.yml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 a playbook that uses encrypted data: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site.yml --ask-vault-pass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site.yml --vault-password-file ~/.vault_pass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102566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A vault-password-file enables automation/CI without typing the password interactively.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An Encrypted Vault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Show the encrypted file on disk, then reveal it with ansible-vault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2990780"/>
          </a:xfrm>
          <a:prstGeom prst="roundRect">
            <a:avLst>
              <a:gd name="adj" fmla="val 2500"/>
            </a:avLst>
          </a:prstGeom>
          <a:solidFill>
            <a:srgbClr val="20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300000"/>
          </a:xfrm>
          <a:prstGeom prst="roundRect">
            <a:avLst>
              <a:gd name="adj" fmla="val 6000"/>
            </a:avLst>
          </a:prstGeom>
          <a:solidFill>
            <a:srgbClr val="34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565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565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565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476" y="1498000"/>
            <a:ext cx="10671048" cy="27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b="0" i="0" sz="1050">
                <a:solidFill>
                  <a:srgbClr val="989189"/>
                </a:solidFill>
                <a:latin typeface="Consolas"/>
              </a:rPr>
              <a:t>ansadmin@control: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476" y="1820000"/>
            <a:ext cx="10411048" cy="2630780"/>
          </a:xfrm>
          <a:prstGeom prst="rect">
            <a:avLst/>
          </a:prstGeom>
          <a:noFill/>
        </p:spPr>
        <p:txBody>
          <a:bodyPr wrap="square" lIns="40000" rIns="400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100">
                <a:solidFill>
                  <a:srgbClr val="F6F3F0"/>
                </a:solidFill>
                <a:latin typeface="Consolas"/>
              </a:rPr>
              <a:t>cat group_vars/prod/vault.yml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$ANSIBLE_VAULT;1.1;AES256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989189"/>
                </a:solidFill>
                <a:latin typeface="Consolas"/>
              </a:rPr>
              <a:t>66386439653637343...  (ciphertext, truncated)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989189"/>
                </a:solidFill>
                <a:latin typeface="Consolas"/>
              </a:rPr>
              <a:t>3037363161623433356...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989189"/>
                </a:solidFill>
                <a:latin typeface="Consolas"/>
              </a:rPr>
              <a:t>6463386463386630613...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100">
                <a:solidFill>
                  <a:srgbClr val="F6F3F0"/>
                </a:solidFill>
                <a:latin typeface="Consolas"/>
              </a:rPr>
              <a:t>ansible-vault view group_vars/prod/vault.yml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Vault password: ********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db_password: "S3cr3t-Pa55"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DAD5CF"/>
                </a:solidFill>
                <a:latin typeface="Consolas"/>
              </a:rPr>
              <a:t>api_token: "tok_9f2c..."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989189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100">
                <a:solidFill>
                  <a:srgbClr val="8FCB6E"/>
                </a:solidFill>
                <a:latin typeface="Consolas"/>
              </a:rPr>
              <a:t>[ansadmin@control ~]$ </a:t>
            </a:r>
            <a:r>
              <a:rPr b="0" i="0" sz="1100">
                <a:solidFill>
                  <a:srgbClr val="F6F3F0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roles?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Two reuse paths:</a:t>
            </a:r>
            <a:r>
              <a:rPr b="0" i="0" sz="1400">
                <a:solidFill>
                  <a:srgbClr val="312D2A"/>
                </a:solidFill>
              </a:rPr>
              <a:t> include &amp; roles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Roles</a:t>
            </a:r>
            <a:r>
              <a:rPr b="0" i="0" sz="1400">
                <a:solidFill>
                  <a:srgbClr val="312D2A"/>
                </a:solidFill>
              </a:rPr>
              <a:t> are the recommended way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Package</a:t>
            </a:r>
            <a:r>
              <a:rPr b="0" i="0" sz="1400">
                <a:solidFill>
                  <a:srgbClr val="312D2A"/>
                </a:solidFill>
              </a:rPr>
              <a:t> tasks, vars, files, templates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Share</a:t>
            </a:r>
            <a:r>
              <a:rPr b="0" i="0" sz="1400">
                <a:solidFill>
                  <a:srgbClr val="312D2A"/>
                </a:solidFill>
              </a:rPr>
              <a:t> via Ansible Galaxy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Using a role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Init:</a:t>
            </a:r>
            <a:r>
              <a:rPr b="0" i="0" sz="1400">
                <a:solidFill>
                  <a:srgbClr val="312D2A"/>
                </a:solidFill>
              </a:rPr>
              <a:t> ansible-galaxy init &lt;role&gt;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Call</a:t>
            </a:r>
            <a:r>
              <a:rPr b="0" i="0" sz="1400">
                <a:solidFill>
                  <a:srgbClr val="312D2A"/>
                </a:solidFill>
              </a:rPr>
              <a:t> under roles: in a play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Auto-loads</a:t>
            </a:r>
            <a:r>
              <a:rPr b="0" i="0" sz="1400">
                <a:solidFill>
                  <a:srgbClr val="312D2A"/>
                </a:solidFill>
              </a:rPr>
              <a:t> main.yml of each dir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Standard</a:t>
            </a:r>
            <a:r>
              <a:rPr b="0" i="0" sz="1400">
                <a:solidFill>
                  <a:srgbClr val="312D2A"/>
                </a:solidFill>
              </a:rPr>
              <a:t> predictable layout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The best way to organise and reuse Ansible content at scale.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Logic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tasks/</a:t>
            </a:r>
            <a:r>
              <a:rPr b="0" i="0" sz="1400">
                <a:solidFill>
                  <a:srgbClr val="312D2A"/>
                </a:solidFill>
              </a:rPr>
              <a:t> — main.yml of work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handlers/</a:t>
            </a:r>
            <a:r>
              <a:rPr b="0" i="0" sz="1400">
                <a:solidFill>
                  <a:srgbClr val="312D2A"/>
                </a:solidFill>
              </a:rPr>
              <a:t> — notified tasks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meta/</a:t>
            </a:r>
            <a:r>
              <a:rPr b="0" i="0" sz="1400">
                <a:solidFill>
                  <a:srgbClr val="312D2A"/>
                </a:solidFill>
              </a:rPr>
              <a:t> — role metadata/deps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Data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defaults/</a:t>
            </a:r>
            <a:r>
              <a:rPr b="0" i="0" sz="1400">
                <a:solidFill>
                  <a:srgbClr val="312D2A"/>
                </a:solidFill>
              </a:rPr>
              <a:t> — default vars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vars/</a:t>
            </a:r>
            <a:r>
              <a:rPr b="0" i="0" sz="1400">
                <a:solidFill>
                  <a:srgbClr val="312D2A"/>
                </a:solidFill>
              </a:rPr>
              <a:t> — stronger vars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files/</a:t>
            </a:r>
            <a:r>
              <a:rPr b="0" i="0" sz="1400">
                <a:solidFill>
                  <a:srgbClr val="312D2A"/>
                </a:solidFill>
              </a:rPr>
              <a:t> — static files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Content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templates/</a:t>
            </a:r>
            <a:r>
              <a:rPr b="0" i="0" sz="1400">
                <a:solidFill>
                  <a:srgbClr val="312D2A"/>
                </a:solidFill>
              </a:rPr>
              <a:t> — .j2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tests/</a:t>
            </a:r>
            <a:r>
              <a:rPr b="0" i="0" sz="1400">
                <a:solidFill>
                  <a:srgbClr val="312D2A"/>
                </a:solidFill>
              </a:rPr>
              <a:t> — sample plays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README.md</a:t>
            </a:r>
            <a:r>
              <a:rPr b="0" i="0" sz="1400">
                <a:solidFill>
                  <a:srgbClr val="312D2A"/>
                </a:solidFill>
              </a:rPr>
              <a:t> — docs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Role Directory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ansible-galaxy init scaffolds this layout for you.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Create and Use a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Scaffold with galaxy init, fill in tasks/main.yml, then list the role under roles:.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775973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Scaffold a role: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ansible-galaxy init webserver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Put work in roles/webserver/tasks/main.yml: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Install Apache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name: httpd, state: present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Start Apache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9CC3D5"/>
                </a:solidFill>
                <a:latin typeface="Consolas"/>
              </a:rPr>
              <a:t>service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{ name: httpd, state: started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Call the role from a play (site.yml):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150">
                <a:solidFill>
                  <a:srgbClr val="F0C06A"/>
                </a:solidFill>
                <a:latin typeface="Consolas"/>
              </a:rPr>
              <a:t> web_servers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88C7E"/>
                </a:solidFill>
                <a:latin typeface="Consolas"/>
              </a:rPr>
              <a:t>roles</a:t>
            </a:r>
            <a:r>
              <a:rPr b="0" i="0" sz="11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- webserver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15973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Roles keep large projects organised — each role is a self-contained, reusable unit.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Why wrap it?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Schedule</a:t>
            </a:r>
            <a:r>
              <a:rPr b="0" i="0" sz="1400">
                <a:solidFill>
                  <a:srgbClr val="312D2A"/>
                </a:solidFill>
              </a:rPr>
              <a:t> via cron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Capture</a:t>
            </a:r>
            <a:r>
              <a:rPr b="0" i="0" sz="1400">
                <a:solidFill>
                  <a:srgbClr val="312D2A"/>
                </a:solidFill>
              </a:rPr>
              <a:t> logs with timestamps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Pass</a:t>
            </a:r>
            <a:r>
              <a:rPr b="0" i="0" sz="1400">
                <a:solidFill>
                  <a:srgbClr val="312D2A"/>
                </a:solidFill>
              </a:rPr>
              <a:t> parameters &amp; vault files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Standardise</a:t>
            </a:r>
            <a:r>
              <a:rPr b="0" i="0" sz="1400">
                <a:solidFill>
                  <a:srgbClr val="312D2A"/>
                </a:solidFill>
              </a:rPr>
              <a:t> how plays are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to include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Exit-code</a:t>
            </a:r>
            <a:r>
              <a:rPr b="0" i="0" sz="1400">
                <a:solidFill>
                  <a:srgbClr val="312D2A"/>
                </a:solidFill>
              </a:rPr>
              <a:t> checking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Timestamped</a:t>
            </a:r>
            <a:r>
              <a:rPr b="0" i="0" sz="1400">
                <a:solidFill>
                  <a:srgbClr val="312D2A"/>
                </a:solidFill>
              </a:rPr>
              <a:t> log file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-e extra vars</a:t>
            </a:r>
            <a:r>
              <a:rPr b="0" i="0" sz="1400">
                <a:solidFill>
                  <a:srgbClr val="312D2A"/>
                </a:solidFill>
              </a:rPr>
              <a:t> from arguments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Notifications</a:t>
            </a:r>
            <a:r>
              <a:rPr b="0" i="0" sz="1400">
                <a:solidFill>
                  <a:srgbClr val="312D2A"/>
                </a:solidFill>
              </a:rPr>
              <a:t> on failure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Running Playbooks via Shell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Wrap ansible-playbook in bash for scheduling, logging and parameters.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A Bash Wrapper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A small wrapper adds logging, vault handling and a reliable exit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2958097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#!/bin/bash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9FB49A"/>
                </a:solidFill>
                <a:latin typeface="Consolas"/>
              </a:rPr>
              <a:t># run_play.sh  —  run a playbook with logging and a clean exit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PLAY=${1:-site.yml}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LOG="logs/run_$(date +%F_%H%M%S).log"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mkdir -p logs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echo "Starting $PLAY at $(date)" | tee -a "$LOG"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ansible-playbook "$PLAY" -i hosts --vault-password-file ~/.vault_pass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2&gt;&amp;1 | tee -a "$LOG"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rc=${PIPESTATUS[0]}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echo "Finished with exit code $rc" | tee -a "$LOG"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exit $rc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4898097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PIPESTATUS[0] captures ansible-playbook's real exit code despite the tee pipe.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7: Templates, Vault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Template a config, encrypt secrets, and package your work as a reusable role.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Write a .j2 template that uses a variable and a  {% for %}  loop.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Render it onto a node with the  template  module.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Create an encrypted vars file with  ansible-vault  and use it in a play.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Scaffold a role with  ansible-galaxy init  and move tasks into it.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Call the role from a  site.yml  play.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The rendered file on the node reflects your variables and loop.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The play runs with --ask-vault-pass; the role installs and starts the service.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 — Real-World &amp;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Putting it together: a full project and provisioning AWS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What it does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Updates</a:t>
            </a:r>
            <a:r>
              <a:rPr b="0" i="0" sz="1400">
                <a:solidFill>
                  <a:srgbClr val="312D2A"/>
                </a:solidFill>
              </a:rPr>
              <a:t> repositories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Installs</a:t>
            </a:r>
            <a:r>
              <a:rPr b="0" i="0" sz="1400">
                <a:solidFill>
                  <a:srgbClr val="312D2A"/>
                </a:solidFill>
              </a:rPr>
              <a:t> the required Java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Sets</a:t>
            </a:r>
            <a:r>
              <a:rPr b="0" i="0" sz="1400">
                <a:solidFill>
                  <a:srgbClr val="312D2A"/>
                </a:solidFill>
              </a:rPr>
              <a:t> the default java alternative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Downloads</a:t>
            </a:r>
            <a:r>
              <a:rPr b="0" i="0" sz="1400">
                <a:solidFill>
                  <a:srgbClr val="312D2A"/>
                </a:solidFill>
              </a:rPr>
              <a:t> &amp; extracts Tomcat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Templates</a:t>
            </a:r>
            <a:r>
              <a:rPr b="0" i="0" sz="1400">
                <a:solidFill>
                  <a:srgbClr val="312D2A"/>
                </a:solidFill>
              </a:rPr>
              <a:t> server.xml, then starts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Modules in play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yum</a:t>
            </a:r>
            <a:r>
              <a:rPr b="0" i="0" sz="1400">
                <a:solidFill>
                  <a:srgbClr val="312D2A"/>
                </a:solidFill>
              </a:rPr>
              <a:t> — packages &amp; updates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alternatives</a:t>
            </a:r>
            <a:r>
              <a:rPr b="0" i="0" sz="1400">
                <a:solidFill>
                  <a:srgbClr val="312D2A"/>
                </a:solidFill>
              </a:rPr>
              <a:t> — default java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get_url</a:t>
            </a:r>
            <a:r>
              <a:rPr b="0" i="0" sz="1400">
                <a:solidFill>
                  <a:srgbClr val="312D2A"/>
                </a:solidFill>
              </a:rPr>
              <a:t> — download tarball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unarchive</a:t>
            </a:r>
            <a:r>
              <a:rPr b="0" i="0" sz="1400">
                <a:solidFill>
                  <a:srgbClr val="312D2A"/>
                </a:solidFill>
              </a:rPr>
              <a:t> — extract it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 + shell</a:t>
            </a:r>
            <a:r>
              <a:rPr b="0" i="0" sz="1400">
                <a:solidFill>
                  <a:srgbClr val="312D2A"/>
                </a:solidFill>
              </a:rPr>
              <a:t> — configure &amp; launch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Project — Install &amp; Configure Tomcat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 real end-to-end playbook: install Java, deploy Tomcat, template config, start it.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Tomcat Playbook (part 1: install)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Variables drive versions and ports; yum and alternatives prepare the runtime.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440718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Install and configure Tomcat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app_servers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become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req_java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java-1.8.0-openjdk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set_java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jre-1.8.0-openjdk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req_tomcat_ver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9.0.26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tomcat_port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8090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Update repositories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{ name: "*", state: latest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Install required Java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yum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{ name: "{{ req_java }}", state: present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Set the default java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alternatives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java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link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/usr/bin/java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path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/usr/lib/jvm/{{ set_java }}/bin/java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634718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Keeping versions in vars makes the same playbook reusable for future Tomcat releases.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Tomcat Playbook (part 2: deploy &amp; start)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Download, extract, template the config with the chosen port, then launch.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403380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Download Tomcat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get_url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url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"https://archive.apache.org/dist/tomcat/tomcat-9/\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v{{ req_tomcat_ver }}/bin/apache-tomcat-{{ req_tomcat_ver }}.tar.gz"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dest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/usr/local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Extract Tomcat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unarchive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src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"/usr/local/apache-tomcat-{{ req_tomcat_ver }}.tar.gz"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dest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/usr/local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remote_src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Rename to a stable path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command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mv /usr/local/apache-tomcat-{{ req_tomcat_ver }} /usr/local/latest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Apply server.xml from template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template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{ src: server.xml.j2, dest: /usr/local/latest/conf/server.xml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Start Tomcat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shell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nohup /usr/local/latest/bin/startup.sh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97380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remote_src: yes tells unarchive the tarball is already on the node, not the controller.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server.xml.j2 (the 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The single {{ tomcat_port }} variable customises the connector per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571504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&lt;?xml version="1.0" encoding="UTF-8"?&gt;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&lt;Server port="8005" shutdown="SHUTDOWN"&gt;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&lt;Service name="Catalina"&gt;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&lt;!-- Port comes from the playbook variable --&gt;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&lt;Connector port="{{ tomcat_port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   protocol="HTTP/1.1"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   connectionTimeout="20000"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   redirectPort="8443"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&lt;Engine name="Catalina" defaultHost="localhost"&gt;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&lt;Host name="localhost" appBase="webapps"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        unpackWARs="true" autoDeploy="true"/&gt;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  &lt;/Engine&gt;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  &lt;/Service&gt;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50">
                <a:solidFill>
                  <a:srgbClr val="ECE7E1"/>
                </a:solidFill>
                <a:latin typeface="Consolas"/>
              </a:rPr>
              <a:t>&lt;/Server&gt;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511504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One template serves every node — each renders with its own port and settings.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Demo — Tomcat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After the playbook completes, browse to the configured port and confirm the landing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70000"/>
            <a:ext cx="10671048" cy="455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F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0476" y="1470000"/>
            <a:ext cx="10671048" cy="470000"/>
          </a:xfrm>
          <a:prstGeom prst="roundRect">
            <a:avLst>
              <a:gd name="adj" fmla="val 4000"/>
            </a:avLst>
          </a:prstGeom>
          <a:solidFill>
            <a:srgbClr val="E9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0476" y="1620000"/>
            <a:ext cx="95000" cy="95000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476" y="1620000"/>
            <a:ext cx="95000" cy="95000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0476" y="1620000"/>
            <a:ext cx="95000" cy="95000"/>
          </a:xfrm>
          <a:prstGeom prst="ellipse">
            <a:avLst/>
          </a:prstGeom>
          <a:solidFill>
            <a:srgbClr val="8FC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0476" y="1580000"/>
            <a:ext cx="9671048" cy="25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8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/>
          <a:lstStyle/>
          <a:p>
            <a:pPr algn="l"/>
            <a:r>
              <a:rPr b="0" i="0" sz="1100">
                <a:solidFill>
                  <a:srgbClr val="2B6242"/>
                </a:solidFill>
              </a:rPr>
              <a:t>🔒  </a:t>
            </a:r>
            <a:r>
              <a:rPr b="0" i="0" sz="1200">
                <a:solidFill>
                  <a:srgbClr val="312D2A"/>
                </a:solidFill>
                <a:latin typeface="Consolas"/>
              </a:rPr>
              <a:t>http://54.242.117.70:8090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476" y="2290000"/>
            <a:ext cx="9671048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312D2A"/>
                </a:solidFill>
                <a:latin typeface="Georgia"/>
              </a:rPr>
              <a:t>Apache Tomcat/9.0.26</a:t>
            </a:r>
          </a:p>
          <a:p>
            <a:pPr algn="l">
              <a:spcBef>
                <a:spcPts val="800"/>
              </a:spcBef>
            </a:pPr>
            <a:r>
              <a:rPr b="0" i="0" sz="1400">
                <a:solidFill>
                  <a:srgbClr val="312D2A"/>
                </a:solidFill>
              </a:rPr>
              <a:t>Tomcat is installed and running successfully on this host.</a:t>
            </a:r>
          </a:p>
          <a:p>
            <a:pPr algn="l">
              <a:spcBef>
                <a:spcPts val="800"/>
              </a:spcBef>
            </a:pPr>
            <a:r>
              <a:rPr b="0" i="0" sz="1400">
                <a:solidFill>
                  <a:srgbClr val="312D2A"/>
                </a:solidFill>
              </a:rPr>
              <a:t>Server status:  RUNNING        HTTP connector port:  8090</a:t>
            </a:r>
          </a:p>
          <a:p>
            <a:pPr algn="l">
              <a:spcBef>
                <a:spcPts val="800"/>
              </a:spcBef>
            </a:pPr>
            <a:r>
              <a:rPr b="0" i="0" sz="1400">
                <a:solidFill>
                  <a:srgbClr val="312D2A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b="0" i="0" sz="1400">
                <a:solidFill>
                  <a:srgbClr val="312D2A"/>
                </a:solidFill>
              </a:rPr>
              <a:t>Manager App   ·   Host Manager   ·   Documentation   ·   Configuration</a:t>
            </a:r>
          </a:p>
          <a:p>
            <a:pPr algn="l">
              <a:spcBef>
                <a:spcPts val="800"/>
              </a:spcBef>
            </a:pPr>
            <a:r>
              <a:rPr b="0" i="0" sz="1400">
                <a:solidFill>
                  <a:srgbClr val="312D2A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b="0" i="0" sz="1400">
                <a:solidFill>
                  <a:srgbClr val="312D2A"/>
                </a:solidFill>
              </a:rPr>
              <a:t>Rendered from server.xml.j2 — the connector port came from the playbook variable.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Prepare the controller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Install</a:t>
            </a:r>
            <a:r>
              <a:rPr b="0" i="0" sz="1400">
                <a:solidFill>
                  <a:srgbClr val="312D2A"/>
                </a:solidFill>
              </a:rPr>
              <a:t> on any VM / EC2 instance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pip install boto boto3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pip install awscli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aws configure</a:t>
            </a:r>
            <a:r>
              <a:rPr b="0" i="0" sz="1400">
                <a:solidFill>
                  <a:srgbClr val="312D2A"/>
                </a:solidFill>
              </a:rPr>
              <a:t> — store credentials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Or attach</a:t>
            </a:r>
            <a:r>
              <a:rPr b="0" i="0" sz="1400">
                <a:solidFill>
                  <a:srgbClr val="312D2A"/>
                </a:solidFill>
              </a:rPr>
              <a:t> an IAM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How it works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boto/boto3</a:t>
            </a:r>
            <a:r>
              <a:rPr b="0" i="0" sz="1400">
                <a:solidFill>
                  <a:srgbClr val="312D2A"/>
                </a:solidFill>
              </a:rPr>
              <a:t> call the AWS API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Modules</a:t>
            </a:r>
            <a:r>
              <a:rPr b="0" i="0" sz="1400">
                <a:solidFill>
                  <a:srgbClr val="312D2A"/>
                </a:solidFill>
              </a:rPr>
              <a:t> wrap those calls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Credentials</a:t>
            </a:r>
            <a:r>
              <a:rPr b="0" i="0" sz="1400">
                <a:solidFill>
                  <a:srgbClr val="312D2A"/>
                </a:solidFill>
              </a:rPr>
              <a:t> from config or role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Region</a:t>
            </a:r>
            <a:r>
              <a:rPr b="0" i="0" sz="1400">
                <a:solidFill>
                  <a:srgbClr val="312D2A"/>
                </a:solidFill>
              </a:rPr>
              <a:t> set in aws configure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AWS Provisioning with Ansible —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Ansible isn't just config management — it can provision cloud infrastructure.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Provision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Launch EC2</a:t>
            </a:r>
            <a:r>
              <a:rPr b="0" i="0" sz="1400">
                <a:solidFill>
                  <a:srgbClr val="312D2A"/>
                </a:solidFill>
              </a:rPr>
              <a:t> with SGs &amp; tags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Create</a:t>
            </a:r>
            <a:r>
              <a:rPr b="0" i="0" sz="1400">
                <a:solidFill>
                  <a:srgbClr val="312D2A"/>
                </a:solidFill>
              </a:rPr>
              <a:t> S3 buckets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Create</a:t>
            </a:r>
            <a:r>
              <a:rPr b="0" i="0" sz="1400">
                <a:solidFill>
                  <a:srgbClr val="312D2A"/>
                </a:solidFill>
              </a:rPr>
              <a:t> RDS databases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Manage</a:t>
            </a:r>
            <a:r>
              <a:rPr b="0" i="0" sz="1400">
                <a:solidFill>
                  <a:srgbClr val="312D2A"/>
                </a:solidFill>
              </a:rPr>
              <a:t> 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Operate &amp; report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Start / stop / terminate</a:t>
            </a:r>
            <a:r>
              <a:rPr b="0" i="0" sz="1400">
                <a:solidFill>
                  <a:srgbClr val="312D2A"/>
                </a:solidFill>
              </a:rPr>
              <a:t> by tag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Single playbook</a:t>
            </a:r>
            <a:r>
              <a:rPr b="0" i="0" sz="1400">
                <a:solidFill>
                  <a:srgbClr val="312D2A"/>
                </a:solidFill>
              </a:rPr>
              <a:t> for all three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Generate</a:t>
            </a:r>
            <a:r>
              <a:rPr b="0" i="0" sz="1400">
                <a:solidFill>
                  <a:srgbClr val="312D2A"/>
                </a:solidFill>
              </a:rPr>
              <a:t> CSV inventory reports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Clean up</a:t>
            </a:r>
            <a:r>
              <a:rPr b="0" i="0" sz="1400">
                <a:solidFill>
                  <a:srgbClr val="312D2A"/>
                </a:solidFill>
              </a:rPr>
              <a:t> tag-less instances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AWS Provisioning — What You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A sampling of what the AWS modules and playbooks enable.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Launch an EC2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The ec2 module creates instances; tags drive later start/stop/terminate plays.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422049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Launch an EC2 instance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Create the instance with a security group &amp; tags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ec2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key_name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my-key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instance_type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t2.micro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image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ami-0abcdef1234567890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region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us-east-1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group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web-sg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count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wait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yes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instance_tags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web01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Environment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prod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ec2_out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debug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var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ec2_out.instances[0].public_ip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616049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Register the result to capture the new instance's IP for follow-on configuration tasks.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Start / Stop / Terminate by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One parameterised playbook starts, stops or terminates a tagged fleet.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84711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Manage EC2 state by tag (pass -e action=stopped)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vars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action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stopped          </a:t>
            </a:r>
            <a:r>
              <a:rPr b="0" i="0" sz="1050">
                <a:solidFill>
                  <a:srgbClr val="9FB49A"/>
                </a:solidFill>
                <a:latin typeface="Consolas"/>
              </a:rPr>
              <a:t># running | stopped | terminated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Find instances tagged Environment=prod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ec2_instance_info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region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us-east-1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filters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  "tag:Environment": prod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found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Set their desired state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ec2_instance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region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us-east-1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instance_ids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"{{ found.instances | map(attribute='instance_id') | list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state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"{{ action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8711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Run with -e "action=running" / stopped / terminated to drive the whole group at once.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Example — Generate a CSV Report for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476" y="1480000"/>
            <a:ext cx="10671048" cy="300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b="0" i="1" sz="1200">
                <a:solidFill>
                  <a:srgbClr val="C74634"/>
                </a:solidFill>
              </a:rPr>
              <a:t>Query live instances, then build a CSV with copy + lineinfile in a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820000"/>
            <a:ext cx="10671048" cy="3847110"/>
          </a:xfrm>
          <a:prstGeom prst="roundRect">
            <a:avLst>
              <a:gd name="adj" fmla="val 30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20000" tIns="110000" bIns="110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Export running EC2 instances to 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hosts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localhost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gather_facts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false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tasks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ec2_instance_info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region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us-east-1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register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ec2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Write the header once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copy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dest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./ec2_report.csv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content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"InstanceId,Type,State,PublicIP,Name\n"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D88C7E"/>
                </a:solidFill>
                <a:latin typeface="Consolas"/>
              </a:rPr>
              <a:t>      -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name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Append one row per instance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lineinfile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path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./ec2_report.csv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  </a:t>
            </a:r>
            <a:r>
              <a:rPr b="0" i="0" sz="1050">
                <a:solidFill>
                  <a:srgbClr val="9CC3D5"/>
                </a:solidFill>
                <a:latin typeface="Consolas"/>
              </a:rPr>
              <a:t>line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"{{ item.instance_id }},{{ item.instance_type }},{{ item.state.name }},{{ item.public_ip_address | default('-') }},{{ item.tags.Name | default('-') }}"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50">
                <a:solidFill>
                  <a:srgbClr val="ECE7E1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88C7E"/>
                </a:solidFill>
                <a:latin typeface="Consolas"/>
              </a:rPr>
              <a:t>loop</a:t>
            </a:r>
            <a:r>
              <a:rPr b="0" i="0" sz="1050">
                <a:solidFill>
                  <a:srgbClr val="ECE7E1"/>
                </a:solidFill>
                <a:latin typeface="Consolas"/>
              </a:rPr>
              <a:t>:</a:t>
            </a:r>
            <a:r>
              <a:rPr b="0" i="0" sz="1050">
                <a:solidFill>
                  <a:srgbClr val="F0C06A"/>
                </a:solidFill>
                <a:latin typeface="Consolas"/>
              </a:rPr>
              <a:t> "{{ ec2.instances }}"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476" y="5787110"/>
            <a:ext cx="10671048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b="1" i="0" sz="1200">
                <a:solidFill>
                  <a:srgbClr val="C74634"/>
                </a:solidFill>
              </a:rPr>
              <a:t>▶ </a:t>
            </a:r>
            <a:r>
              <a:rPr b="0" i="0" sz="1200">
                <a:solidFill>
                  <a:srgbClr val="312D2A"/>
                </a:solidFill>
              </a:rPr>
              <a:t>This mirrors the on-prem Discovery report — same pattern, cloud data source.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Hands-on Lab — Part 8: Real-World &amp;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Run the Tomcat project end-to-end, then provision and report on AWS.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476" y="1450000"/>
            <a:ext cx="10671048" cy="4600000"/>
          </a:xfrm>
          <a:prstGeom prst="roundRect">
            <a:avLst>
              <a:gd name="adj" fmla="val 2000"/>
            </a:avLst>
          </a:prstGeom>
          <a:solidFill>
            <a:srgbClr val="EEF1F0"/>
          </a:solidFill>
          <a:ln w="12700">
            <a:solidFill>
              <a:srgbClr val="CF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0000" rIns="360000" tIns="250000" bIns="250000"/>
          <a:lstStyle/>
          <a:p>
            <a:pPr algn="l"/>
            <a:r>
              <a:rPr b="1" i="0" sz="1800">
                <a:solidFill>
                  <a:srgbClr val="C74634"/>
                </a:solidFill>
              </a:rPr>
              <a:t>Try it yourself</a:t>
            </a:r>
            <a:r>
              <a:rPr b="0" i="0" sz="1200">
                <a:solidFill>
                  <a:srgbClr val="6B635C"/>
                </a:solidFill>
              </a:rPr>
              <a:t>      ·      ~15 min, hands-on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1.  </a:t>
            </a:r>
            <a:r>
              <a:rPr b="0" i="0" sz="1400">
                <a:solidFill>
                  <a:srgbClr val="312D2A"/>
                </a:solidFill>
              </a:rPr>
              <a:t>Run the Tomcat playbook and browse to the configured port.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2.  </a:t>
            </a:r>
            <a:r>
              <a:rPr b="0" i="0" sz="1400">
                <a:solidFill>
                  <a:srgbClr val="312D2A"/>
                </a:solidFill>
              </a:rPr>
              <a:t>Change  tomcat_port  via a variable, re-run, and confirm the new port.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3.  </a:t>
            </a:r>
            <a:r>
              <a:rPr b="0" i="0" sz="1400">
                <a:solidFill>
                  <a:srgbClr val="312D2A"/>
                </a:solidFill>
              </a:rPr>
              <a:t>(AWS) Launch a tagged EC2 instance with the  ec2  module.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4.  </a:t>
            </a:r>
            <a:r>
              <a:rPr b="0" i="0" sz="1400">
                <a:solidFill>
                  <a:srgbClr val="312D2A"/>
                </a:solidFill>
              </a:rPr>
              <a:t>(AWS) Stop the instance by tag with the parameterised play.</a:t>
            </a:r>
          </a:p>
          <a:p>
            <a:pPr algn="l">
              <a:spcBef>
                <a:spcPts val="600"/>
              </a:spcBef>
            </a:pPr>
            <a:r>
              <a:rPr b="1" i="0" sz="1400">
                <a:solidFill>
                  <a:srgbClr val="312D2A"/>
                </a:solidFill>
              </a:rPr>
              <a:t>5.  </a:t>
            </a:r>
            <a:r>
              <a:rPr b="0" i="0" sz="1400">
                <a:solidFill>
                  <a:srgbClr val="312D2A"/>
                </a:solidFill>
              </a:rPr>
              <a:t>(AWS) Generate a CSV report of running instances.</a:t>
            </a:r>
          </a:p>
          <a:p>
            <a:pPr algn="l">
              <a:spcBef>
                <a:spcPts val="1400"/>
              </a:spcBef>
            </a:pPr>
            <a:r>
              <a:rPr b="1" i="0" sz="1400">
                <a:solidFill>
                  <a:srgbClr val="C74634"/>
                </a:solidFill>
              </a:rPr>
              <a:t>Success criteria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Tomcat serves on your chosen port; the CSV lists your instances.</a:t>
            </a:r>
          </a:p>
          <a:p>
            <a:pPr algn="l"/>
            <a:r>
              <a:rPr b="1" i="0" sz="1400">
                <a:solidFill>
                  <a:srgbClr val="2B6242"/>
                </a:solidFill>
              </a:rPr>
              <a:t>✓  </a:t>
            </a:r>
            <a:r>
              <a:rPr b="0" i="0" sz="1400">
                <a:solidFill>
                  <a:srgbClr val="312D2A"/>
                </a:solidFill>
              </a:rPr>
              <a:t>Start/stop by tag changes instance state as expected.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Write clean playbooks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Name</a:t>
            </a:r>
            <a:r>
              <a:rPr b="0" i="0" sz="1400">
                <a:solidFill>
                  <a:srgbClr val="312D2A"/>
                </a:solidFill>
              </a:rPr>
              <a:t> every task clearly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Idempotent</a:t>
            </a:r>
            <a:r>
              <a:rPr b="0" i="0" sz="1400">
                <a:solidFill>
                  <a:srgbClr val="312D2A"/>
                </a:solidFill>
              </a:rPr>
              <a:t> modules over shell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Use facts</a:t>
            </a:r>
            <a:r>
              <a:rPr b="0" i="0" sz="1400">
                <a:solidFill>
                  <a:srgbClr val="312D2A"/>
                </a:solidFill>
              </a:rPr>
              <a:t> for portability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--check first</a:t>
            </a:r>
            <a:r>
              <a:rPr b="0" i="0" sz="1400">
                <a:solidFill>
                  <a:srgbClr val="312D2A"/>
                </a:solidFill>
              </a:rPr>
              <a:t>, then apply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Structure &amp; reuse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Roles</a:t>
            </a:r>
            <a:r>
              <a:rPr b="0" i="0" sz="1400">
                <a:solidFill>
                  <a:srgbClr val="312D2A"/>
                </a:solidFill>
              </a:rPr>
              <a:t> for anything non-trivial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import/include</a:t>
            </a:r>
            <a:r>
              <a:rPr b="0" i="0" sz="1400">
                <a:solidFill>
                  <a:srgbClr val="312D2A"/>
                </a:solidFill>
              </a:rPr>
              <a:t> to split logic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Variables</a:t>
            </a:r>
            <a:r>
              <a:rPr b="0" i="0" sz="1400">
                <a:solidFill>
                  <a:srgbClr val="312D2A"/>
                </a:solidFill>
              </a:rPr>
              <a:t> over hard-coded values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Templates</a:t>
            </a:r>
            <a:r>
              <a:rPr b="0" i="0" sz="1400">
                <a:solidFill>
                  <a:srgbClr val="312D2A"/>
                </a:solidFill>
              </a:rPr>
              <a:t> for per-host config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Operate safely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Vault</a:t>
            </a:r>
            <a:r>
              <a:rPr b="0" i="0" sz="1400">
                <a:solidFill>
                  <a:srgbClr val="312D2A"/>
                </a:solidFill>
              </a:rPr>
              <a:t> every secret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block/rescue</a:t>
            </a:r>
            <a:r>
              <a:rPr b="0" i="0" sz="1400">
                <a:solidFill>
                  <a:srgbClr val="312D2A"/>
                </a:solidFill>
              </a:rPr>
              <a:t> for graceful failure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Tags</a:t>
            </a:r>
            <a:r>
              <a:rPr b="0" i="0" sz="1400">
                <a:solidFill>
                  <a:srgbClr val="312D2A"/>
                </a:solidFill>
              </a:rPr>
              <a:t> for targeted runs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Test</a:t>
            </a:r>
            <a:r>
              <a:rPr b="0" i="0" sz="1400">
                <a:solidFill>
                  <a:srgbClr val="312D2A"/>
                </a:solidFill>
              </a:rPr>
              <a:t> on non-prod first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Best Practices &amp;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Carry these habits from the course into real automation work.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Foundations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Install</a:t>
            </a:r>
            <a:r>
              <a:rPr b="0" i="0" sz="1400">
                <a:solidFill>
                  <a:srgbClr val="312D2A"/>
                </a:solidFill>
              </a:rPr>
              <a:t> &amp; configure Ansible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Inventory,</a:t>
            </a:r>
            <a:r>
              <a:rPr b="0" i="0" sz="1400">
                <a:solidFill>
                  <a:srgbClr val="312D2A"/>
                </a:solidFill>
              </a:rPr>
              <a:t> auth, ad-hoc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Facts</a:t>
            </a:r>
            <a:r>
              <a:rPr b="0" i="0" sz="1400">
                <a:solidFill>
                  <a:srgbClr val="312D2A"/>
                </a:solidFill>
              </a:rPr>
              <a:t> — default &amp; custom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Dynamic</a:t>
            </a:r>
            <a:r>
              <a:rPr b="0" i="0" sz="1400">
                <a:solidFill>
                  <a:srgbClr val="312D2A"/>
                </a:solidFill>
              </a:rPr>
              <a:t> inventories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Playbooks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Variables,</a:t>
            </a:r>
            <a:r>
              <a:rPr b="0" i="0" sz="1400">
                <a:solidFill>
                  <a:srgbClr val="312D2A"/>
                </a:solidFill>
              </a:rPr>
              <a:t> operators, filters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Conditionals,</a:t>
            </a:r>
            <a:r>
              <a:rPr b="0" i="0" sz="1400">
                <a:solidFill>
                  <a:srgbClr val="312D2A"/>
                </a:solidFill>
              </a:rPr>
              <a:t> loops, handlers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Tags</a:t>
            </a:r>
            <a:r>
              <a:rPr b="0" i="0" sz="1400">
                <a:solidFill>
                  <a:srgbClr val="312D2A"/>
                </a:solidFill>
              </a:rPr>
              <a:t> &amp; error handling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import/include,</a:t>
            </a:r>
            <a:r>
              <a:rPr b="0" i="0" sz="1400">
                <a:solidFill>
                  <a:srgbClr val="312D2A"/>
                </a:solidFill>
              </a:rPr>
              <a:t> delegation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 wrap="square"/>
          <a:lstStyle/>
          <a:p>
            <a:pPr>
              <a:buNone/>
            </a:pPr>
            <a:r>
              <a:rPr b="1" i="0" sz="1600">
                <a:solidFill>
                  <a:srgbClr val="312D2A"/>
                </a:solidFill>
              </a:rPr>
              <a:t>Advanced &amp; cloud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Templates</a:t>
            </a:r>
            <a:r>
              <a:rPr b="0" i="0" sz="1400">
                <a:solidFill>
                  <a:srgbClr val="312D2A"/>
                </a:solidFill>
              </a:rPr>
              <a:t> with Jinja2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Vault</a:t>
            </a:r>
            <a:r>
              <a:rPr b="0" i="0" sz="1400">
                <a:solidFill>
                  <a:srgbClr val="312D2A"/>
                </a:solidFill>
              </a:rPr>
              <a:t> &amp; roles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Tomcat</a:t>
            </a:r>
            <a:r>
              <a:rPr b="0" i="0" sz="1400">
                <a:solidFill>
                  <a:srgbClr val="312D2A"/>
                </a:solidFill>
              </a:rPr>
              <a:t> project</a:t>
            </a:r>
          </a:p>
          <a:p>
            <a:pPr marL="285750" indent="-285750">
              <a:buFont typeface="Arial"/>
              <a:buChar char="•"/>
            </a:pPr>
            <a:r>
              <a:rPr b="1" i="0" sz="1400">
                <a:solidFill>
                  <a:srgbClr val="312D2A"/>
                </a:solidFill>
              </a:rPr>
              <a:t>AWS</a:t>
            </a:r>
            <a:r>
              <a:rPr b="0" i="0" sz="1400">
                <a:solidFill>
                  <a:srgbClr val="312D2A"/>
                </a:solidFill>
              </a:rPr>
              <a:t> provisioning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0476" y="68580"/>
            <a:ext cx="10671048" cy="418222"/>
          </a:xfrm>
        </p:spPr>
        <p:txBody>
          <a:bodyPr/>
          <a:lstStyle/>
          <a:p>
            <a:r>
              <a:t>Course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875" y="655848"/>
            <a:ext cx="1115979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z="1200">
                <a:solidFill>
                  <a:srgbClr val="312D2A"/>
                </a:solidFill>
              </a:rPr>
              <a:t>Everything you can now do, at a glance.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Ansible Automation with Playbooks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Oracle Internal · Technical Enablement  —  questions &amp; hands-on lab time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Presentation13" id="{6164B478-3D20-BB4C-A632-32E21E358D86}" vid="{1A11B21F-84EF-0C4B-90F9-63039C69D331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273bc5-5bb9-41e3-a023-94876dc48af9" xsi:nil="true"/>
    <lcf76f155ced4ddcb4097134ff3c332f xmlns="2f8e0def-26ef-404d-be00-2f9a179d9ef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74CFD70489884CAD48BD0D3261C77B" ma:contentTypeVersion="12" ma:contentTypeDescription="Create a new document." ma:contentTypeScope="" ma:versionID="38c71642143020dbb907e57bac0c4409">
  <xsd:schema xmlns:xsd="http://www.w3.org/2001/XMLSchema" xmlns:xs="http://www.w3.org/2001/XMLSchema" xmlns:p="http://schemas.microsoft.com/office/2006/metadata/properties" xmlns:ns2="2f8e0def-26ef-404d-be00-2f9a179d9ef7" xmlns:ns3="61273bc5-5bb9-41e3-a023-94876dc48af9" targetNamespace="http://schemas.microsoft.com/office/2006/metadata/properties" ma:root="true" ma:fieldsID="84f98d6b5fa4a46cbff06abe66e8b305" ns2:_="" ns3:_="">
    <xsd:import namespace="2f8e0def-26ef-404d-be00-2f9a179d9ef7"/>
    <xsd:import namespace="61273bc5-5bb9-41e3-a023-94876dc48a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8e0def-26ef-404d-be00-2f9a179d9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b6b08d2-6182-4197-8221-8710a9404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73bc5-5bb9-41e3-a023-94876dc48af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7aac2f-d82b-4b15-acb4-0c7ee2d77b41}" ma:internalName="TaxCatchAll" ma:showField="CatchAllData" ma:web="61273bc5-5bb9-41e3-a023-94876dc48a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565779-2808-4B89-A37E-962D37C5CD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162223-F1A6-46CD-A5A9-A80ACFBC50BF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61273bc5-5bb9-41e3-a023-94876dc48af9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2f8e0def-26ef-404d-be00-2f9a179d9ef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3FEA09-D0FB-4049-977C-9CC29F59844A}">
  <ds:schemaRefs>
    <ds:schemaRef ds:uri="2f8e0def-26ef-404d-be00-2f9a179d9ef7"/>
    <ds:schemaRef ds:uri="61273bc5-5bb9-41e3-a023-94876dc48a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18476</TotalTime>
  <Words>363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Georgia</vt:lpstr>
      <vt:lpstr>Oracle Sans Light</vt:lpstr>
      <vt:lpstr>Oracle Sans Tab</vt:lpstr>
      <vt:lpstr>Oracle Sans Tab Light</vt:lpstr>
      <vt:lpstr>System Font Regular</vt:lpstr>
      <vt:lpstr>Parent Master Pillars</vt:lpstr>
      <vt:lpstr>Guard-AI: Database &amp; Infrastructure Intelligence</vt:lpstr>
      <vt:lpstr>HyperTxn AI – Powering Hyper-Scale Transaction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</dc:title>
  <dc:creator>Alex Blyth</dc:creator>
  <cp:lastModifiedBy>Lakshminarayana Vattikuti</cp:lastModifiedBy>
  <cp:revision>151</cp:revision>
  <dcterms:created xsi:type="dcterms:W3CDTF">2024-11-13T05:33:08Z</dcterms:created>
  <dcterms:modified xsi:type="dcterms:W3CDTF">2026-04-14T09:27:20Z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ontentTypeId">
    <vt:lpwstr>0x0101000F74CFD70489884CAD48BD0D3261C77B</vt:lpwstr>
  </property>
  <property fmtid="{D5CDD505-2E9C-101B-9397-08002B2CF9AE}" pid="6" name="MediaServiceImageTags">
    <vt:lpwstr/>
  </property>
  <property fmtid="{D5CDD505-2E9C-101B-9397-08002B2CF9AE}" pid="7" name="MSIP_Label_3c76ce46-357f-46de-88d6-77b9bbb83c46_Enabled">
    <vt:lpwstr>true</vt:lpwstr>
  </property>
  <property fmtid="{D5CDD505-2E9C-101B-9397-08002B2CF9AE}" pid="8" name="MSIP_Label_3c76ce46-357f-46de-88d6-77b9bbb83c46_SetDate">
    <vt:lpwstr>2025-01-07T03:47:21Z</vt:lpwstr>
  </property>
  <property fmtid="{D5CDD505-2E9C-101B-9397-08002B2CF9AE}" pid="9" name="MSIP_Label_3c76ce46-357f-46de-88d6-77b9bbb83c46_Method">
    <vt:lpwstr>Privileged</vt:lpwstr>
  </property>
  <property fmtid="{D5CDD505-2E9C-101B-9397-08002B2CF9AE}" pid="10" name="MSIP_Label_3c76ce46-357f-46de-88d6-77b9bbb83c46_Name">
    <vt:lpwstr>Public</vt:lpwstr>
  </property>
  <property fmtid="{D5CDD505-2E9C-101B-9397-08002B2CF9AE}" pid="11" name="MSIP_Label_3c76ce46-357f-46de-88d6-77b9bbb83c46_SiteId">
    <vt:lpwstr>4e2c6054-71cb-48f1-bd6c-3a9705aca71b</vt:lpwstr>
  </property>
  <property fmtid="{D5CDD505-2E9C-101B-9397-08002B2CF9AE}" pid="12" name="MSIP_Label_3c76ce46-357f-46de-88d6-77b9bbb83c46_ActionId">
    <vt:lpwstr>a2675387-02f5-496a-8b83-627540803171</vt:lpwstr>
  </property>
  <property fmtid="{D5CDD505-2E9C-101B-9397-08002B2CF9AE}" pid="13" name="MSIP_Label_3c76ce46-357f-46de-88d6-77b9bbb83c46_ContentBits">
    <vt:lpwstr>0</vt:lpwstr>
  </property>
</Properties>
</file>